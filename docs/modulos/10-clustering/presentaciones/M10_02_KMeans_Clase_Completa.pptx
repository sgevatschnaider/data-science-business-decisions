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Presentación introductoria.
Cómo se mueven los centroides, cómo elegir K y cuándo desconfiar de los grupos..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La pregunta correcta antes de elegir K.
OBJETIVOS Y DECISIÓN.
Punto 1: Segmentar para definir acciones diferenciadas, no para decorar un dashboard.. Punto 2: Precisar a quién se segmenta: clientes, sucursales, productos o eventos.. Punto 3: Seleccionar variables, distancias, escala y número de segmentos.. Punto 4: Medir estabilidad, capacidad descriptiva y costos de implementación..
Idea para enfatizar: Un cluster no tiene valor comercial hasta que cambia una decisión..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Un mismo dataset sin etiquetas de segmento.
CASO CONDUCTOR.
Punto 1: 210 clientes sintéticos expresados en frecuencia y margen estandarizados.. Punto 2: La nube parece exhibir tres concentraciones principales.. Punto 3: El algoritmo no conoce los grupos originales que generaron los datos.. Punto 4: El reto es detectar y describir una estructura sin sobreinterpretarla..
Idea para enfatizar: Los grupos descubiertos dependen de distancia, escala y supuestos..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01 · Qué optimiza K-Means.
K-MEANS · MODELO.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La función objetivo es la inercia (WCSS).
FORMALIZACIÓN.
Punto 1: Para cada cliente i se asigna una etiqueta zᵢ entre 1 y K.. Punto 2: Cada cluster j tiene un centroide μⱼ, media de sus observaciones.. Punto 3: Se minimiza la suma de distancias euclídeas al cuadrado.. Punto 4: La solución es local y depende de la inicialización..
Idea para enfatizar: La inercia es interna; no mide directamente la utilidad de un segmento..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Asignación: cada punto elige su centroide más cercano.
ALGORITMO · PASO A.
Punto 1: Fijados los centros, calcular la distancia euclídea de cada xᵢ.. Punto 2: La etiqueta se actualiza según el centro de distancia mínima.. Punto 3: El plano queda separado en regiones de Voronoi.. Punto 4: Un cambio en los centros altera qué cliente cae en cada zona..
Idea para enfatizar: En cada iteración se reasignan clientes por proximidad..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Actualización: la media minimiza la SSE intracluster.
ALGORITMO · PASO B.
Punto 1: Para cada grupo se calcula la media de los puntos asignados.. Punto 2: La media es el minimizador de la suma de distancias al cuadrado.. Punto 3: Repetimos asignación y actualización hasta converger.. Punto 4: Un cluster vacío requiere una estrategia explícita de reinicio..
Idea para enfatizar: El algoritmo de Lloyd alterna dos optimizaciones condicionadas..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Demostración manual con seis puntos.
EJEMPLO NUMÉRICO.
Punto 1: A=(1,1), B=(2,1), C=(2,2); D=(7,7), E=(8,7), F=(8,8).. Punto 2: Con K=2 y una asignación natural: ABC frente a DEF.. Punto 3: Centroides: μ₁=(1,67;1,33), μ₂=(7,67;7,33).. Punto 4: Cada punto debe quedar asignado al centroide más próximo..
Idea para enfatizar: La media es vectorial: cada coordenada se promedia dentro de su grupo..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02 · La dinámica visible.
K-MEANS · ITERACIONES.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Inicialización: una elección con consecuencias.
ITERACIÓN 0.
Punto 1: Elegimos K=3 y tres centroides iniciales, potencialmente alejados.. Punto 2: Se colorean los clientes según el centro más cercano.. Punto 3: Una elección desfavorable puede inducir un mínimo local de peor calidad.. Punto 4: El objetivo todavía puede disminuir de forma importante..
Idea para enfatizar: S05 del futuro simulador permitirá mover centroides a mano..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Primer ciclo: nuevas medias, nuevas asignaciones.
ITERACIÓN 1.
Punto 1: Con las etiquetas actuales, recalculamos tres promedios.. Punto 2: Los centroides migran hacia las regiones con más puntos asignados.. Punto 3: Luego cambia la frontera de decisión.. Punto 4: La inercia no aumenta cuando se ejecutan correctamente ambos pasos..
Idea para enfatizar: Cada iteración reduce o mantiene el objetivo; no garantiza óptimo global..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Convergencia: se estabilizan los grupos.
RESULTADO.
Punto 1: El algoritmo termina cuando no hay mejora significativa o se alcanza un límite.. Punto 2: Los tres segmentos sintéticos pasan a ser territorialmente compactos.. Punto 3: La posición final de cada centro resume promedios, no clientes reales.. Punto 4: El orden numérico de las etiquetas 0, 1, 2 es arbitrario..
Idea para enfatizar: La convergencia técnica no certifica que el modelo sea estable o útil..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Por qué conviene K-Means++ y varios reinicios.
INICIALIZACIÓN.
Punto 1: K-Means++ tiende a separar centroides iniciales mediante distancias.. Punto 2: Disminuye el riesgo de soluciones iniciales claramente pobres.. Punto 3: Usar varios reinicios y escoger la menor inercia obtenida.. Punto 4: Guardar random_state, n_init, tolerancia y versión de librería..
Idea para enfatizar: Más reinicios reducen dependencia del azar; no eliminan los supuestos del método..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03 · Elegir K sin autoengaño.
K-MEANS · EVALUACIÓN.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Elbow: buscar rendimientos marginales decrecientes.
MÉTODO DEL CODO.
Punto 1: El mínimo teórico de inercia no crece con K; un ajuste local puede diferir.. Punto 2: Se observa si la mejora comienza a ser marginal al añadir clusters.. Punto 3: Algunas muestras no muestran un codo claro.. Punto 4: Nunca maximizar K exclusivamente para minimizar la inercia..
Idea para enfatizar: El “codo” es una heurística visual, no una prueba estadística universal..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Silhouette: equilibrio de cohesión y separación.
VALIDACIÓN INTERNA.
Punto 1: a(i): distancia media del punto a su propio cluster (excluyéndose a sí mismo).. Punto 2: b(i): menor distancia media a otro cluster.. Punto 3: s(i) = [b(i) − a(i)] / max{a(i), b(i)}.. Punto 4: Cercano a 1 indica mayor separación; negativo sugiere asignación discutible..
Idea para enfatizar: Usar tanto la media como el perfil por cluster; requiere grupos de tamaño adecuado..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Triangular K con evidencias diferentes.
VALIDACIÓN EXTERNA E INTERNA.
Punto 1: Calcular inertia, silhouette, tamaño de grupos y estabilidad entre muestras.. Punto 2: Revisar si los perfiles originales son distintos e interpretables.. Punto 3: Medir utilidad: retención, conversión, uplift o ahorro operativo.. Punto 4: Preferir K interpretable cuando diferencias de métricas son marginales..
Idea para enfatizar: La selección de K es multicriterio y debe declararse antes de actuar..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04 · Límites estructurales.
K-MEANS · ADVERTENCIAS.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La escala cambia la noción de parecido.
MÉTRICAS Y DISTANCIAS.
Punto 1: Euclidean² suma diferencias al cuadrado por variable.. Punto 2: Si una característica tiene varianza enorme puede dirigir la partición.. Punto 3: StandardScaler, transformaciones log y ponderaciones cambian los grupos.. Punto 4: Evaluar cambios de perfiles y estabilidad frente a transformaciones..
Idea para enfatizar: Una distancia solo tiene sentido luego de justificar la escala y las variables..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K-Means no es “clustering con cualquier distancia”.
SUPUESTOS MATEMÁTICOS.
Punto 1: La actualización con medias deriva de distancias euclídeas al cuadrado.. Punto 2: Con distancias arbitrarias el centroide puede dejar de ser el minimizador.. Punto 3: K-Medoids usa observaciones representativas, útil con métricas más generales.. Punto 4: Para datos mixtos o categóricos convienen modelos de agrupamiento adecuados..
Idea para enfatizar: No cambiar la función de distancia sin reconsiderar el algoritmo completo..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Outliers: un punto puede arrastrar centroides.
ROBUSTEZ.
Punto 1: La pérdida cuadrática penaliza fuertemente las desviaciones extremas.. Punto 2: Un punto aislado puede desplazar uno o más centroides.. Punto 3: Comparar ajustes con y sin casos extremos documentados.. Punto 4: K-Medoids, clustering robusto o reglas específicas pueden ser alternativas..
Idea para enfatizar: No decidir automáticamente que los clientes excepcionales son “errores”..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Clases no convexas: K-Means puede cortar la estructura.
GEOMETRÍA DE LAS FORMAS.
Punto 1: Con medias lunas, el agrupamiento real sigue una trayectoria curva.. Punto 2: K-Means crea celdas convexas y no sigue automáticamente la curva.. Punto 3: El criterio de inercia puede verse razonable pese a una partición equivocada.. Punto 4: Examinar alternativas como métodos de densidad o espectrales..
Idea para enfatizar: Una silhouette elevada no corrige supuestos geométricos inadecuados..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Clusters alargados, tamaños distintos y densidades desiguales.
ESTRUCTURA DE GRUPOS.
Punto 1: Los centros esféricos sufren cuando las covarianzas son anisotrópicas.. Punto 2: Clusters grandes pueden absorber pequeños pero importantes.. Punto 3: La diferencia de densidad deteriora la frontera por cercanía.. Punto 4: Gaussian Mixture o modelos de densidad pueden resultar más adecuados..
Idea para enfatizar: El negocio puede preferir un segmento pequeño que K-Means diluye..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Estabilidad frente a semillas y remuestreo.
REPRODUCIBILIDAD.
Punto 1: Correr diferentes semillas y revisar inercia, silhouette y tamaños.. Punto 2: Repetir el análisis sobre bootstrap o cortes temporales comparables.. Punto 3: Evaluar acuerdo entre particiones mediante ARI u otras métricas.. Punto 4: No comparar etiquetas numéricas sin alinear las particiones..
Idea para enfatizar: Un segmento que desaparece con cambios menores necesita cautela antes de activarlo..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05 · De grupos a acciones.
K-MEANS · NEGOCIO.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Perfilado: volver de los números Z al cliente real.
INTERPRETACIÓN.
Punto 1: Calcular distribución de frecuencia, margen, recencia y canal por segmento.. Punto 2: Comparar tamaño, ingreso, dispersión y riesgo de cada grupo.. Punto 3: Traducir patrones a hipótesis, evitando estereotipos como “fiel” sin evidencia.. Punto 4: Asignar nombres operativos solo después de validar el perfil..
Idea para enfatizar: El perfil debe explicarse con unidades originales y dispersión interna..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Diseñar acciones y testearlas.
GOBIERNO DE SEGMENTOS.
Punto 1: Ejemplo S1: reconexión con clientes de recencia alta y margen bajo.. Punto 2: Ejemplo S2: fidelización y beneficios para frecuencia/margen altos.. Punto 3: Ejemplo S3: activación digital sin otorgar descuentos indiscriminados.. Punto 4: Probar campañas con grupos de control; segmentar no implica causalidad..
Idea para enfatizar: Una campaña segmentada debe demostrar valor incremental contra una alternativa..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Asignación de nuevos clientes y monitoreo.
PRODUCCIÓN.
Punto 1: Guardar escalador, variables, centros, semillas y fecha de entrenamiento.. Punto 2: Calcular distancias a centros sin recalcular todo el modelo en cada predicción.. Punto 3: Vigilar drift de variables, tamaño y distribución de grupos.. Punto 4: Definir una política de refresco y de intervención ante anomalías..
Idea para enfatizar: El cluster se mantiene como instrumento operativo, no como etiqueta permanente..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Simulaciones K-Means y pruebas de hipótesis.
LABORATORIOS CORRESPONDIENTES.
Punto 1: S05: arrastrar centros y observar la asignación en vivo.. Punto 2: S06: ejecutar Lloyd paso a paso y ver curva de inercia.. Punto 3: S07: comparar k-means++, reinicios y semillas.. Punto 4: S08: comparar K mediante codo, silhouette y estabilidad.. Punto 5: S09: editar escala, forma, outliers y ver fallas geométricas..
Idea para enfatizar: En cada simulación el alumno debe describir qué cambió y por qué..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Prueba de transferencia: segmentar y defender.
ACTIVIDAD DE EVALUACIÓN.
Punto 1: El codo sugiere K=4, pero silhouette prefiere K=3.. Punto 2: Un segmento estratégico con 2 % de clientes aparece solo con K=5.. Punto 3: Al cambiar una semilla, 25 % de clientes cambia de grupo.. Punto 4: Argumentar un plan de selección y validación antes de activar campañas..
Idea para enfatizar: El mejor K equilibra estructura, estabilidad, interpretación y decisión..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K-Means · Segmentación por centroides. Errores frecuentes y bibliografía.
SÍNTESIS / REFERENCIAS.
Punto 1: Confundir K-NN (supervisado) con K-Means (no supervisado).. Punto 2: Leer etiquetas de cluster como ranking o como diagnóstico causal.. Punto 3: MacQueen (1967); Arthur &amp; Vassilvitskii (2007), k-means++.. Punto 4: Hastie, Tibshirani &amp; Friedman (2009); scikit-learn User Guide: Clustering..
Idea para enfatizar: La segmentación no es una explicación causal del comportamiento del cliente..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03504"/>
            <a:ext cx="6720840" cy="5504688"/>
          </a:xfrm>
          <a:prstGeom prst="roundRect">
            <a:avLst>
              <a:gd name="adj" fmla="val 26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961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75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PARA DECISIONES DE NEGOCIO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2688" y="1499616"/>
            <a:ext cx="5212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32688" y="2011680"/>
            <a:ext cx="6035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· Segmentación por centroides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41832" y="3831336"/>
            <a:ext cx="1828800" cy="0"/>
          </a:xfrm>
          <a:prstGeom prst="line">
            <a:avLst/>
          </a:prstGeom>
          <a:noFill/>
          <a:ln w="50800">
            <a:solidFill>
              <a:srgbClr val="72A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4133088"/>
            <a:ext cx="5715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se mueven los centroides, cómo elegir K y cuándo desconfiar de los grupos.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1832" y="5129784"/>
            <a:ext cx="583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Clases conceptuales · Matemáticas · Evidencia visual · Decisión de negocio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88936" y="603504"/>
            <a:ext cx="4087368" cy="5504688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1" name="Image 0" descr="/home/runner/work/data-science-business-decisions/data-science-business-decisions/docs/modulos/10-clustering/presentaciones/fuentes/assets/k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6952" y="1325880"/>
            <a:ext cx="3849624" cy="35478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36408" y="5266944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Sergio Gevatschnaider  ·  Material de cátedra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31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OBJETIVOS Y DECISIÓN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pregunta correcta antes de elegir K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Segmentar para definir acciones diferenciadas, no para decorar un dashboard.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Precisar a quién se segmenta: clientes, sucursales, productos o eventos.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Seleccionar variables, distancias, escala y número de segmentos.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Medir estabilidad, capacidad descriptiva y costos de implementación.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187452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PREGUNTAS DE DECISIÓN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2350008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560320"/>
            <a:ext cx="237744" cy="23774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25603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21424" y="2404872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decisión cambia entre segmentos?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99632" y="3163824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9944" y="3374136"/>
            <a:ext cx="237744" cy="23774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3374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21424" y="3218688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¿Es comparable cada variable?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99632" y="3977640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9944" y="4187952"/>
            <a:ext cx="237744" cy="23774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4187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21424" y="4032504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¿Se pueden ejecutar acciones diferentes?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99632" y="4791456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9944" y="5001768"/>
            <a:ext cx="237744" cy="23774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5001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21424" y="4846320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¿Los segmentos resisten una nueva muestra?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cluster no tiene valor comercial hasta que cambia una decisión.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31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CASO CONDUCTOR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mismo dataset sin etiquetas de segmento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210 clientes sintéticos expresados en frecuencia y margen estandarizados.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nube parece exhibir tres concentraciones principales.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algoritmo no conoce los grupos originales que generaron los datos.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reto es detectar y describir una estructura sin sobreinterpretarla.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business_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grupos descubiertos dependen de distancia, escala y supuestos.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31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480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·  02_KMeans    /    SECCIÓN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Qué optimiza K-Means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6440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partición “buena” minimiza las distancias cuadráticas de los puntos a sus centroides.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40880" y="1161288"/>
            <a:ext cx="4498848" cy="4471416"/>
          </a:xfrm>
          <a:prstGeom prst="roundRect">
            <a:avLst>
              <a:gd name="adj" fmla="val 3272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7" name="Image 0" descr="/home/runner/work/data-science-business-decisions/data-science-business-decisions/docs/modulos/10-clustering/presentaciones/fuentes/assets/k_reg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08760"/>
            <a:ext cx="4206240" cy="3712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31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FORMALIZACIÓN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función objetivo es la inercia (WCSS)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cada cliente i se asigna una etiqueta zᵢ entre 1 y K.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cluster j tiene un centroide μⱼ, media de sus observaciones.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minimiza la suma de distancias euclídeas al cuadrado.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solución es local y depende de la inicialización.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MATEMÁTICO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2468880"/>
            <a:ext cx="5084064" cy="1143000"/>
          </a:xfrm>
          <a:prstGeom prst="roundRect">
            <a:avLst>
              <a:gd name="adj" fmla="val 128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78608"/>
            <a:ext cx="4681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5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 = ∑ᵢ ‖xᵢ − μzᵢ‖²</a:t>
            </a:r>
            <a:endParaRPr lang="en-US" sz="2350" dirty="0"/>
          </a:p>
        </p:txBody>
      </p:sp>
      <p:sp>
        <p:nvSpPr>
          <p:cNvPr id="20" name="Shape 18"/>
          <p:cNvSpPr/>
          <p:nvPr/>
        </p:nvSpPr>
        <p:spPr>
          <a:xfrm>
            <a:off x="6227064" y="396849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40480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xᵢ: vector de características del cliente.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227064" y="4489704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361688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zᵢ: etiqueta asignada de 1 a K.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227064" y="5010912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882896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μⱼ: promedio del cluster j.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227064" y="5532120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404104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favorece grupos compactos.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inercia es interna; no mide directamente la utilidad de un segmento.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31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ALGORITMO · PASO 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Asignación: cada punto elige su centroide más cercano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Fijados los centros, calcular la distancia euclídea de cada xᵢ.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etiqueta se actualiza según el centro de distancia mínima.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plano queda separado en regiones de Voronoi.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cambio en los centros altera qué cliente cae en cada zona.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k_reg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cada iteración se reasignan clientes por proximidad.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31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ALGORITMO · PASO 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Actualización: la media minimiza la SSE intracluster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cada grupo se calcula la media de los puntos asignados.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media es el minimizador de la suma de distancias al cuadrado.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Repetimos asignación y actualización hasta converger.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cluster vacío requiere una estrategia explícita de reinicio.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MATEMÁTICO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2468880"/>
            <a:ext cx="5084064" cy="1143000"/>
          </a:xfrm>
          <a:prstGeom prst="roundRect">
            <a:avLst>
              <a:gd name="adj" fmla="val 128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78608"/>
            <a:ext cx="4681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5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μⱼ ← (1 / nⱼ) ∑ᵢ:zᵢ=j xᵢ</a:t>
            </a:r>
            <a:endParaRPr lang="en-US" sz="2350" dirty="0"/>
          </a:p>
        </p:txBody>
      </p:sp>
      <p:sp>
        <p:nvSpPr>
          <p:cNvPr id="20" name="Shape 18"/>
          <p:cNvSpPr/>
          <p:nvPr/>
        </p:nvSpPr>
        <p:spPr>
          <a:xfrm>
            <a:off x="6227064" y="396849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40480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Asignar puntos al centro más cercano.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227064" y="4489704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361688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Calcular la media de cada nuevo grupo.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227064" y="5010912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882896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Repetir y detener ante estabilidad / tolerancia.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227064" y="5532120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404104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Controlar iteraciones, vacíos y semilla.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algoritmo de Lloyd alterna dos optimizaciones condicionadas.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31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EJEMPLO NUMÉRICO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Demostración manual con seis puntos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A=(1,1), B=(2,1), C=(2,2); D=(7,7), E=(8,7), F=(8,8).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K=2 y una asignación natural: ABC frente a DEF.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Centroides: μ₁=(1,67;1,33), μ₂=(7,67;7,33).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punto debe quedar asignado al centroide más próximo.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MATEMÁTICO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2468880"/>
            <a:ext cx="5084064" cy="1143000"/>
          </a:xfrm>
          <a:prstGeom prst="roundRect">
            <a:avLst>
              <a:gd name="adj" fmla="val 128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78608"/>
            <a:ext cx="4681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5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μ₁ = (5/3, 4/3)   ·   μ₂ = (23/3, 22/3)</a:t>
            </a:r>
            <a:endParaRPr lang="en-US" sz="2350" dirty="0"/>
          </a:p>
        </p:txBody>
      </p:sp>
      <p:sp>
        <p:nvSpPr>
          <p:cNvPr id="20" name="Shape 18"/>
          <p:cNvSpPr/>
          <p:nvPr/>
        </p:nvSpPr>
        <p:spPr>
          <a:xfrm>
            <a:off x="6227064" y="396849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40480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Pedir a la clase justificar la primera asignación.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227064" y="4489704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361688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Calcular ambas medias coordenada a coordenada.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227064" y="5010912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882896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Verificar distancias y si cambiaron etiquetas.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227064" y="5532120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404104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con K=1 y K=3.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media es vectorial: cada coordenada se promedia dentro de su grupo.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31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480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·  02_KMeans    /    SECCIÓN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La dinámica visible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6440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Acompañar cada desplazamiento del centroide explica mucho más que mostrar el cluster final.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40880" y="1161288"/>
            <a:ext cx="4498848" cy="4471416"/>
          </a:xfrm>
          <a:prstGeom prst="roundRect">
            <a:avLst>
              <a:gd name="adj" fmla="val 3272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7" name="Image 0" descr="/home/runner/work/data-science-business-decisions/data-science-business-decisions/docs/modulos/10-clustering/presentaciones/fuentes/assets/k_in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08760"/>
            <a:ext cx="4206240" cy="3712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31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ITERACIÓN 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Inicialización: una elección con consecuencias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Elegimos K=3 y tres centroides iniciales, potencialmente alejados.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colorean los clientes según el centro más cercano.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elección desfavorable puede inducir un mínimo local de peor calidad.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objetivo todavía puede disminuir de forma importante.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k_in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S05 del futuro simulador permitirá mover centroides a mano.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31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ITERACIÓN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Primer ciclo: nuevas medias, nuevas asignaciones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las etiquetas actuales, recalculamos tres promedios.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centroides migran hacia las regiones con más puntos asignados.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Luego cambia la frontera de decisión.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inercia no aumenta cuando se ejecutan correctamente ambos pasos.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k_ite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iteración reduce o mantiene el objetivo; no garantiza óptimo global.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31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RESULTADO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Convergencia: se estabilizan los grupos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algoritmo termina cuando no hay mejora significativa o se alcanza un límite.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tres segmentos sintéticos pasan a ser territorialmente compactos.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posición final de cada centro resume promedios, no clientes reales.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orden numérico de las etiquetas 0, 1, 2 es arbitrario.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k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convergencia técnica no certifica que el modelo sea estable o útil.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31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INICIALIZACIÓN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conviene K-Means++ y varios reinicios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K-Means++ tiende a separar centroides iniciales mediante distancias.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Disminuye el riesgo de soluciones iniciales claramente pobres.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Usar varios reinicios y escoger la menor inercia obtenida.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Guardar random_state, n_init, tolerancia y versión de librería.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82880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REPRODUCIBLE</a:t>
            </a:r>
            <a:endParaRPr lang="en-US" sz="1210" dirty="0"/>
          </a:p>
        </p:txBody>
      </p:sp>
      <p:sp>
        <p:nvSpPr>
          <p:cNvPr id="18" name="Shape 16"/>
          <p:cNvSpPr/>
          <p:nvPr/>
        </p:nvSpPr>
        <p:spPr>
          <a:xfrm>
            <a:off x="6382512" y="23225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01968" y="24688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23957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Elegir K y variables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8705088" y="28895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82512" y="30083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3154680"/>
            <a:ext cx="192024" cy="192024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30815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Sembrar centros con K-Means++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8705088" y="35753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82512" y="36941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3840480"/>
            <a:ext cx="192024" cy="19202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37673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Ejecutar varios reinicios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8705088" y="42611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82512" y="43799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45262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22592" y="44531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inercia y estabilidad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8705088" y="49469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382512" y="50657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01968" y="5212080"/>
            <a:ext cx="192024" cy="192024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51389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Guardar parámetros / perfil resultante</a:t>
            </a:r>
            <a:endParaRPr lang="en-US" sz="1440" dirty="0"/>
          </a:p>
        </p:txBody>
      </p:sp>
      <p:sp>
        <p:nvSpPr>
          <p:cNvPr id="37" name="Shape 35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reinicios reducen dependencia del azar; no eliminan los supuestos del método.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31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480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·  02_KMeans    /    SECCIÓN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Elegir K sin autoengaño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6440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curva bonita no sustituye un criterio de decisión ni la validación de estabilidad.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40880" y="1161288"/>
            <a:ext cx="4498848" cy="4471416"/>
          </a:xfrm>
          <a:prstGeom prst="roundRect">
            <a:avLst>
              <a:gd name="adj" fmla="val 3272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7" name="Image 0" descr="/home/runner/work/data-science-business-decisions/data-science-business-decisions/docs/modulos/10-clustering/presentaciones/fuentes/assets/k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08760"/>
            <a:ext cx="4206240" cy="3712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31</a:t>
            </a:r>
            <a:endParaRPr lang="en-US" sz="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MÉTODO DEL CODO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Elbow: buscar rendimientos marginales decrecientes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mínimo teórico de inercia no crece con K; un ajuste local puede diferir.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observa si la mejora comienza a ser marginal al añadir clusters.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Algunas muestras no muestran un codo claro.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Nunca maximizar K exclusivamente para minimizar la inercia.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k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“codo” es una heurística visual, no una prueba estadística universal.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31</a:t>
            </a:r>
            <a:endParaRPr lang="en-US" sz="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VALIDACIÓN INTERNA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Silhouette: equilibrio de cohesión y separación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a(i): distancia media del punto a su propio cluster (excluyéndose a sí mismo).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b(i): menor distancia media a otro cluster.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s(i) = [b(i) − a(i)] / max{a(i), b(i)}.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Cercano a 1 indica mayor separación; negativo sugiere asignación discutible.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k_silhoue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Usar tanto la media como el perfil por cluster; requiere grupos de tamaño adecuado.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31</a:t>
            </a:r>
            <a:endParaRPr lang="en-US" sz="9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VALIDACIÓN EXTERNA E INTERNA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Triangular K con evidencias diferentes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Calcular inertia, silhouette, tamaño de grupos y estabilidad entre muestras.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si los perfiles originales son distintos e interpretables.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Medir utilidad: retención, conversión, uplift o ahorro operativo.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Preferir K interpretable cuando diferencias de métricas son marginales.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85623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DE DECISIÓN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27064" y="2468880"/>
            <a:ext cx="2514600" cy="1298448"/>
          </a:xfrm>
          <a:prstGeom prst="roundRect">
            <a:avLst>
              <a:gd name="adj" fmla="val 11268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62432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409944" y="3044952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siempre hay óptimo único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97112" y="2468880"/>
            <a:ext cx="2514600" cy="1298448"/>
          </a:xfrm>
          <a:prstGeom prst="roundRect">
            <a:avLst>
              <a:gd name="adj" fmla="val 11268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9992" y="262432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079992" y="3044952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Compacidad interna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27064" y="3986784"/>
            <a:ext cx="2514600" cy="1298448"/>
          </a:xfrm>
          <a:prstGeom prst="roundRect">
            <a:avLst>
              <a:gd name="adj" fmla="val 11268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4142232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S(i)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409944" y="4562856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Cohesión / separación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97112" y="3986784"/>
            <a:ext cx="2514600" cy="1298448"/>
          </a:xfrm>
          <a:prstGeom prst="roundRect">
            <a:avLst>
              <a:gd name="adj" fmla="val 11268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79992" y="4142232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079992" y="4562856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 / valor esperado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selección de K es multicriterio y debe declararse antes de actuar.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31</a:t>
            </a:r>
            <a:endParaRPr lang="en-US" sz="9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480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·  02_KMeans    /    SECCIÓN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Límites estructurales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6440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forma de los datos, los outliers y las decisiones de escala determinan qué segmentos son posibles.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40880" y="1161288"/>
            <a:ext cx="4498848" cy="4471416"/>
          </a:xfrm>
          <a:prstGeom prst="roundRect">
            <a:avLst>
              <a:gd name="adj" fmla="val 3272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7" name="Image 0" descr="/home/runner/work/data-science-business-decisions/data-science-business-decisions/docs/modulos/10-clustering/presentaciones/fuentes/assets/k_mo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08760"/>
            <a:ext cx="4206240" cy="3712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31</a:t>
            </a:r>
            <a:endParaRPr lang="en-US" sz="9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MÉTRICAS Y DISTANCIAS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escala cambia la noción de parecido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Euclidean² suma diferencias al cuadrado por variable.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una característica tiene varianza enorme puede dirigir la partición.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StandardScaler, transformaciones log y ponderaciones cambian los grupos.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Evaluar cambios de perfiles y estabilidad frente a transformaciones.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pca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distancia solo tiene sentido luego de justificar la escala y las variables.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31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SUPUESTOS MATEMÁTICOS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no es “clustering con cualquier distancia”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actualización con medias deriva de distancias euclídeas al cuadrado.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distancias arbitrarias el centroide puede dejar de ser el minimizador.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K-Medoids usa observaciones representativas, útil con métricas más generales.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datos mixtos o categóricos convienen modelos de agrupamiento adecuados.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228600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7918704" y="235915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Centroide medio / Euclidean².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181344" y="310896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K-MEDOIDS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7918704" y="318211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Medoide real / distancias elegidas.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181344" y="393192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4023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K-MODES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7918704" y="400507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Moda para variables categóricas.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181344" y="475488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4846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GOWER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7918704" y="482803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posible distancia para datos mixtos.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cambiar la función de distancia sin reconsiderar el algoritmo completo.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31</a:t>
            </a:r>
            <a:endParaRPr lang="en-US" sz="9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ROBUSTEZ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Outliers: un punto puede arrastrar centroides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pérdida cuadrática penaliza fuertemente las desviaciones extremas.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punto aislado puede desplazar uno o más centroides.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ajustes con y sin casos extremos documentados.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K-Medoids, clustering robusto o reglas específicas pueden ser alternativas.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k_outl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decidir automáticamente que los clientes excepcionales son “errores”.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31</a:t>
            </a:r>
            <a:endParaRPr lang="en-US" sz="9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GEOMETRÍA DE LAS FORMAS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Clases no convexas: K-Means puede cortar la estructura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medias lunas, el agrupamiento real sigue una trayectoria curva.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crea celdas convexas y no sigue automáticamente la curva.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criterio de inercia puede verse razonable pese a una partición equivocada.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Examinar alternativas como métodos de densidad o espectrales.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k_mo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silhouette elevada no corrige supuestos geométricos inadecuados.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31</a:t>
            </a:r>
            <a:endParaRPr lang="en-US" sz="9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ESTRUCTURA DE GRUPOS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Clusters alargados, tamaños distintos y densidades desiguales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centros esféricos sufren cuando las covarianzas son anisotrópicas.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Clusters grandes pueden absorber pequeños pero importantes.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diferencia de densidad deteriora la frontera por cercanía.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Gaussian Mixture o modelos de densidad pueden resultar más adecuados.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k_anisotrop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negocio puede preferir un segmento pequeño que K-Means diluye.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31</a:t>
            </a:r>
            <a:endParaRPr lang="en-US" sz="9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REPRODUCIBILIDAD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Estabilidad frente a semillas y remuestreo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Correr diferentes semillas y revisar inercia, silhouette y tamaños.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Repetir el análisis sobre bootstrap o cortes temporales comparables.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Evaluar acuerdo entre particiones mediante ARI u otras métricas.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comparar etiquetas numéricas sin alinear las particiones.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k_st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segmento que desaparece con cambios menores necesita cautela antes de activarlo.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31</a:t>
            </a:r>
            <a:endParaRPr lang="en-US" sz="9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480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·  02_KMeans    /    SECCIÓN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De grupos a acciones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6440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segmentación se vuelve valiosa cuando cada perfil permite diseñar y evaluar una intervención.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40880" y="1161288"/>
            <a:ext cx="4498848" cy="4471416"/>
          </a:xfrm>
          <a:prstGeom prst="roundRect">
            <a:avLst>
              <a:gd name="adj" fmla="val 3272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7" name="Image 0" descr="/home/runner/work/data-science-business-decisions/data-science-business-decisions/docs/modulos/10-clustering/presentaciones/fuentes/assets/business_pro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08760"/>
            <a:ext cx="4206240" cy="3712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/ 31</a:t>
            </a:r>
            <a:endParaRPr lang="en-US" sz="9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INTERPRETACIÓN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Perfilado: volver de los números Z al cliente real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Calcular distribución de frecuencia, margen, recencia y canal por segmento.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tamaño, ingreso, dispersión y riesgo de cada grupo.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Traducir patrones a hipótesis, evitando estereotipos como “fiel” sin evidencia.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Asignar nombres operativos solo después de validar el perfil.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business_pro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perfil debe explicarse con unidades originales y dispersión interna.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/ 31</a:t>
            </a:r>
            <a:endParaRPr lang="en-US" sz="9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GOBIERNO DE SEGMENTOS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Diseñar acciones y testearlas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S1: reconexión con clientes de recencia alta y margen bajo.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S2: fidelización y beneficios para frecuencia/margen altos.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S3: activación digital sin otorgar descuentos indiscriminados.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Probar campañas con grupos de control; segmentar no implica causalidad.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228600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 · PROTEGER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7918704" y="235915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Recuperación controlada / costo por contacto.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181344" y="310896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S2 · FIDELIZAR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7918704" y="318211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Beneficios basados en margen incremental.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181344" y="393192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4023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 · ACTIVAR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7918704" y="400507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digital y adopción de canal.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181344" y="475488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4846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MEDIR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7918704" y="482803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incremental y ROI neto por segmento.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campaña segmentada debe demostrar valor incremental contra una alternativa.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/ 31</a:t>
            </a:r>
            <a:endParaRPr lang="en-US" sz="9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PRODUCCIÓN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Asignación de nuevos clientes y monitoreo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Guardar escalador, variables, centros, semillas y fecha de entrenamiento.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Calcular distancias a centros sin recalcular todo el modelo en cada predicción.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Vigilar drift de variables, tamaño y distribución de grupos.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una política de refresco y de intervención ante anomalías.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82880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SECUENCIA DE ANÁLISIS</a:t>
            </a:r>
            <a:endParaRPr lang="en-US" sz="1210" dirty="0"/>
          </a:p>
        </p:txBody>
      </p:sp>
      <p:sp>
        <p:nvSpPr>
          <p:cNvPr id="18" name="Shape 16"/>
          <p:cNvSpPr/>
          <p:nvPr/>
        </p:nvSpPr>
        <p:spPr>
          <a:xfrm>
            <a:off x="6382512" y="23225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01968" y="24688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23957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nuevos con contrato de calidad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8705088" y="28895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82512" y="30083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3154680"/>
            <a:ext cx="192024" cy="192024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30815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Transformación fija / mismo orden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8705088" y="35753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82512" y="36941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3840480"/>
            <a:ext cx="192024" cy="19202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37673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Asignación al centro más cercano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8705088" y="42611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82512" y="43799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45262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22592" y="44531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 de acción elegible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8705088" y="49469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382512" y="50657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01968" y="5212080"/>
            <a:ext cx="192024" cy="192024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51389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Experimento / monitoreo / reentrenamiento</a:t>
            </a:r>
            <a:endParaRPr lang="en-US" sz="1440" dirty="0"/>
          </a:p>
        </p:txBody>
      </p:sp>
      <p:sp>
        <p:nvSpPr>
          <p:cNvPr id="37" name="Shape 35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cluster se mantiene como instrumento operativo, no como etiqueta permanente.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/ 31</a:t>
            </a:r>
            <a:endParaRPr lang="en-US" sz="9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LABORATORIOS CORRESPONDIENTES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Simulaciones K-Means y pruebas de hipótesis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S05: arrastrar centros y observar la asignación en vivo.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990088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88950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S06: ejecutar Lloyd paso a paso y ver curva de inercia.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703320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60273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S07: comparar k-means++, reinicios y semillas.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41655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31596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S08: comparar K mediante codo, silhouette y estabilidad.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5129784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50292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S09: editar escala, forma, outliers y ver fallas geométricas.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82880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SECUENCIA DE ANÁLISIS</a:t>
            </a:r>
            <a:endParaRPr lang="en-US" sz="1210" dirty="0"/>
          </a:p>
        </p:txBody>
      </p:sp>
      <p:sp>
        <p:nvSpPr>
          <p:cNvPr id="20" name="Shape 18"/>
          <p:cNvSpPr/>
          <p:nvPr/>
        </p:nvSpPr>
        <p:spPr>
          <a:xfrm>
            <a:off x="6382512" y="23225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01968" y="24688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2592" y="23957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S05 · Asignar / actualizar</a:t>
            </a:r>
            <a:endParaRPr lang="en-US" sz="1440" dirty="0"/>
          </a:p>
        </p:txBody>
      </p:sp>
      <p:sp>
        <p:nvSpPr>
          <p:cNvPr id="23" name="Shape 21"/>
          <p:cNvSpPr/>
          <p:nvPr/>
        </p:nvSpPr>
        <p:spPr>
          <a:xfrm>
            <a:off x="8705088" y="28895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82512" y="30083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01968" y="3154680"/>
            <a:ext cx="192024" cy="192024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30815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S06 · Iteración / convergencia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8705088" y="35753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82512" y="36941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01968" y="3840480"/>
            <a:ext cx="192024" cy="19202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37673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S07 · Inicio / mínimos locales</a:t>
            </a:r>
            <a:endParaRPr lang="en-US" sz="1440" dirty="0"/>
          </a:p>
        </p:txBody>
      </p:sp>
      <p:sp>
        <p:nvSpPr>
          <p:cNvPr id="31" name="Shape 29"/>
          <p:cNvSpPr/>
          <p:nvPr/>
        </p:nvSpPr>
        <p:spPr>
          <a:xfrm>
            <a:off x="8705088" y="42611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382512" y="43799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01968" y="45262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22592" y="44531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S08 · K / calidad / estabilidad</a:t>
            </a:r>
            <a:endParaRPr lang="en-US" sz="1440" dirty="0"/>
          </a:p>
        </p:txBody>
      </p:sp>
      <p:sp>
        <p:nvSpPr>
          <p:cNvPr id="35" name="Shape 33"/>
          <p:cNvSpPr/>
          <p:nvPr/>
        </p:nvSpPr>
        <p:spPr>
          <a:xfrm>
            <a:off x="8705088" y="49469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382512" y="50657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01968" y="5212080"/>
            <a:ext cx="192024" cy="192024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22592" y="51389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S09 · Fallas / perturbaciones</a:t>
            </a:r>
            <a:endParaRPr lang="en-US" sz="1440" dirty="0"/>
          </a:p>
        </p:txBody>
      </p:sp>
      <p:sp>
        <p:nvSpPr>
          <p:cNvPr id="39" name="Shape 37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cada simulación el alumno debe describir qué cambió y por qué.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/ 31</a:t>
            </a:r>
            <a:endParaRPr lang="en-US" sz="9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ACTIVIDAD DE EVALUACIÓN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 de transferencia: segmentar y defender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codo sugiere K=4, pero silhouette prefiere K=3.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segmento estratégico con 2 % de clientes aparece solo con K=5.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cambiar una semilla, 25 % de clientes cambia de grupo.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Argumentar un plan de selección y validación antes de activar campañas.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187452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PREGUNTAS DE DECISIÓN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2350008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560320"/>
            <a:ext cx="237744" cy="23774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25603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21424" y="2404872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métricas compararías para K?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99632" y="3163824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9944" y="3374136"/>
            <a:ext cx="237744" cy="23774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3374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21424" y="3218688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proteger el segmento minoritario?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99632" y="3977640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9944" y="4187952"/>
            <a:ext cx="237744" cy="23774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4187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21424" y="4032504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harías con la inestabilidad?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99632" y="4791456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9944" y="5001768"/>
            <a:ext cx="237744" cy="23774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5001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21424" y="4846320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experimento prueba valor económico?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mejor K equilibra estructura, estabilidad, interpretación y decisión.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/ 31</a:t>
            </a:r>
            <a:endParaRPr lang="en-US" sz="9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A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02_KMeans     ·     SÍNTESIS / REFERENCIAS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Errores frecuentes y bibliografía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Confundir K-NN (supervisado) con K-Means (no supervisado).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Leer etiquetas de cluster como ranking o como diagnóstico causal.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MacQueen (1967); Arthur &amp; Vassilvitskii (2007), k-means++.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Hastie, Tibshirani &amp; Friedman (2009); scikit-learn User Guide: Clustering.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228600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SUPUESTO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7918704" y="235915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distancia euclídea al cuadrado importa.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181344" y="310896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7918704" y="318211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Semilla / escala / forma / outliers.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181344" y="393192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4023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7918704" y="400507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SSE + silhouette + estabilidad.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181344" y="475488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4846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NEGOCIO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7918704" y="482803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Grupos con intervención evaluable.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72A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segmentación no es una explicación causal del comportamiento del cliente.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KMEANS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/ 31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Ciencia de Datos para Decisiones de Negocio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M10 — K-Means · Segmentación por centroides</dc:title>
  <dc:subject>Módulo 10 · PCA, K-Means y clustering jerárquico</dc:subject>
  <dc:creator>Sergio Gevatschnaider</dc:creator>
  <cp:lastModifiedBy>Sergio Gevatschnaider</cp:lastModifiedBy>
  <cp:revision>1</cp:revision>
  <dcterms:created xsi:type="dcterms:W3CDTF">2026-10-11T13:42:34Z</dcterms:created>
  <dcterms:modified xsi:type="dcterms:W3CDTF">2026-10-11T13:42:34Z</dcterms:modified>
</cp:coreProperties>
</file>