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Presentación introductoria.
De la distancia entre observaciones a una jerarquía interpretable y operativa..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Por qué construir jerarquías, no solo grupos.
PROPÓSITO.
Punto 1: Investigar estructura anidada sin fijar K desde el inicio.. Punto 2: Observar el orden y la distancia a los que se fusionan grupos.. Punto 3: Seleccionar resoluciones apropiadas para distintas decisiones.. Punto 4: Distinguir jerarquía matemática de una jerarquía causal o empresarial..
Idea para enfatizar: Un dendrograma muestra una historia de fusiones, no “categorías naturales” definitivas..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El mismo caso de 12 clientes facilita seguir fusiones.
CASO CONDUCTOR.
Punto 1: Cada observación tiene frecuencia y margen estandarizados.. Punto 2: Primero se calcula una matriz de distancias entre pares.. Punto 3: Al principio cada cliente forma su propio grupo.. Punto 4: La estrategia de linkage decide qué grupos se fusionan..
Idea para enfatizar: Con pocos puntos podemos verificar a mano cada paso del algoritmo..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01 · Cómo nace la jerarquía.
AGLOMERATIVO.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Una matriz de distancias es el verdadero punto de partida.
MÉTRICA.
Punto 1: Distancia euclídea d(i,j) = √Σₘ(xᵢₘ − xⱼₘ)².. Punto 2: La diagonal de la matriz vale cero y la matriz es simétrica.. Punto 3: La escala define cuánto pesa cada variable en la proximidad.. Punto 4: La tabla de distancias por sí sola no decide cómo combinar clusters..
Idea para enfatizar: Métrica y linkage son elecciones distintas, que deben explicitarse..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Fusión paso a paso: 12 → 11 → … → 1.
ALGORITMO AGLOMERATIVO.
Punto 1: Buscar el par de clusters con mínima disimilitud según el linkage.. Punto 2: Unir ese par y registrar altura de fusión.. Punto 3: Actualizar distancias entre nuevo cluster y restantes.. Punto 4: Repetir hasta que todos los puntos pertenezcan a un único árbol..
Idea para enfatizar: Una vez fusionados dos grupos, la versión aglomerativa no los separa..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Ejemplo manual con cuatro observaciones.
ARITMÉTICA SENCILLA.
Punto 1: A=(0,0), B=(0,1), C=(4,0), D=(4,1).. Punto 2: Distancias AB=CD=1; AC=BD=4; AD=BC=√17.. Punto 3: Se fusionan AB y CD (hay empate; el orden puede variar).. Punto 4: Single linkage entre AB y CD usa la menor distancia entre pares: 4..
Idea para enfatizar: Un dendrograma no es único si hay empates o cambia el criterio de fusión..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02 · Aprender a leer dendrogramas.
JERÁRQUICO · VISUALIZACIÓN.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Qué representa cada parte del dendrograma.
LECTURA.
Punto 1: Las hojas corresponden a observaciones originales.. Punto 2: Las ramas indican combinaciones sucesivas de grupos.. Punto 3: La altura codifica el valor del criterio de disimilitud al fusionar.. Punto 4: Reordenar hojas puede cambiar el aspecto sin cambiar la jerarquía..
Idea para enfatizar: La posición horizontal no representa automáticamente una distancia medible..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Cortar un árbol: del continuo jerárquico al K elegido.
CORTE HORIZONTAL.
Punto 1: Un umbral h divide el árbol en componentes desconectadas.. Punto 2: Alternativamente, solicitar directamente un número de clusters.. Punto 3: Comparar niveles según estabilidad, tamaños y acción operativa.. Punto 4: El mismo árbol admite segmentaciones gruesas y finas..
Idea para enfatizar: El corte es una decisión analítica separada de la construcción del árbol..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03 · Cuatro criterios de linkage.
JERÁRQUICO · MODELOS.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Single linkage: distancia mínima entre clusters.
DISTANCIA ENTRE CONJUNTOS.
Punto 1: D(A,B) = min d(a,b) para a∈A y b∈B.. Punto 2: Puede capturar formas alargadas y conectividad local.. Punto 3: Sufre el efecto chaining: un puente de puntos conecta grupos.. Punto 4: Es sensible a contactos accidentales entre regiones..
Idea para enfatizar: Single prioriza conectividad; no necesariamente compacidad..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Complete linkage: la distancia máxima.
DISTANCIA ENTRE CONJUNTOS.
Punto 1: D(A,B) = max d(a,b) para a∈A y b∈B.. Punto 2: Favorece grupos de diámetro contenido y relativamente compactos.. Punto 3: Puede dividir estructuras largas que single sí conectaría.. Punto 4: La elección depende de la topología esperada y el uso..
Idea para enfatizar: Complete minimiza la peor separación entre puntos de grupos unidos..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Average linkage: promedio de distancias por pares.
DISTANCIA ENTRE CONJUNTOS.
Punto 1: D(A,B) = promedio de d(a,b) sobre a∈A, b∈B.. Punto 2: Se ubica entre el énfasis conectivo de single y el compacto de complete.. Punto 3: No equivale a distancia entre centroides en general.. Punto 4: Es sensible a la métrica y al peso de grupos grandes..
Idea para enfatizar: Average balancea múltiples relaciones en vez de mirar solo extremos..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Ward: fusionar donde menos aumenta la inercia.
CRITERIO DE VARIANZA.
Punto 1: Selecciona la fusión que menos eleva la SSE total dentro de clusters.. Punto 2: Para grupos A y B: ΔSSE = (nA nB)/(nA+nB) ‖μA−μB‖².. Punto 3: Tiende a generar conjuntos compactos y de tamaño relativamente equilibrado.. Punto 4: Requiere trabajar coherentemente con distancia euclídea en su formulación..
Idea para enfatizar: La altura graficada por software Ward depende de su convención; no siempre es ΔSSE literal..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Comparar los cuatro árboles sobre la misma evidencia.
COMPARACIÓN CONTROLADA.
Punto 1: Mantener puntos y escala exactamente iguales.. Punto 2: Cambiar exclusivamente el criterio de enlace.. Punto 3: Observar altas fusiones, grupos aislados y puentes.. Punto 4: Evaluar más de una partición: la comparación visual no basta..
Idea para enfatizar: El cambio de árbol no surge de nuevos datos sino de la definición de proximidad..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Chaining: cuando un puente “pega” estructuras diferentes.
CASO PATOLÓGICO.
Punto 1: Single fusiona observaciones a través de vecinos cercanos sucesivos.. Punto 2: Una cadena de puntos puede conectar extremos muy separados.. Punto 3: Complete penaliza el diámetro y ofrece un comportamiento diferente.. Punto 4: La “mejor” solución depende de la noción de grupo que se quiera detectar..
Idea para enfatizar: El chaining no es un bug: es una consecuencia de la definición de single..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04 · Validez y límites.
JERÁRQUICO · INFERENCIA.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Las variables y la escala siguen gobernando el resultado.
PREPROCESAMIENTO.
Punto 1: Estandarizar si las unidades y dispersiones no son comparables.. Punto 2: Las transformaciones pueden alterar distancias y orden de fusión.. Punto 3: En Ward, la geometría euclídea es parte del criterio cuadrático.. Punto 4: Justificar la inclusión de variables relevantes para la acción..
Idea para enfatizar: La jerarquía no corrige datos mal definidos o mal escalados..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Distancia y linkage: combinaciones compatibles.
DISEÑO METODOLÓGICO.
Punto 1: Single/complete/average pueden usar diferentes métricas de distancia.. Punto 2: Ward está atado a un objetivo de suma de cuadrados euclídeos.. Punto 3: La distancia de Manhattan puede ser útil, pero cambia interpretación.. Punto 4: Nunca reportar “Ward + cualquier métrica” sin verificar implementación..
Idea para enfatizar: La consistencia matemática entre métrica y criterio es una exigencia, no un detalle..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Coeficiente cofenético: cómo deforma las distancias.
DIAGNÓSTICO DE AJUSTE.
Punto 1: La distancia cofenética de dos puntos es la altura a la que se unen.. Punto 2: Se correlacionan distancias originales con cofenéticas.. Punto 3: Correlación alta significa fidelidad global del árbol a esas distancias.. Punto 4: No garantiza separación real ni utilidad de clusters para decisiones..
Idea para enfatizar: Es una medida de representación de distancias, no un “certificado de clusters”..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Costo computacional: por qué no escalar ciegamente.
COMPLEJIDAD.
Punto 1: La matriz de distancias completa contiene n(n−1)/2 pares.. Punto 2: Requiere O(n²) memoria para distancias densas.. Punto 3: El tiempo depende de algoritmo, linkage e implementación.. Punto 4: Para cientos de miles de clientes conviene submuestrear o usar alternativas..
Idea para enfatizar: Un dendrograma completo no siempre es la herramienta operacional escalable..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Ruido, outliers y estabilidad del árbol.
ROBUSTEZ.
Punto 1: Una observación atípica puede unirse al final y alterar alturas.. Punto 2: Pequeñas perturbaciones de datos pueden modificar ramas cercanas.. Punto 3: Comparar cortes en bootstrap, ventanas temporales o submuestras.. Punto 4: Medir concordancia de particiones sin comparar IDs arbitrarios..
Idea para enfatizar: Priorizar las divisiones reproducibles por sobre historias atractivas del árbol..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¿PCA antes del clustering jerárquico?.
INTEGRACIÓN.
Punto 1: PCA puede atenuar redundancia y facilitar visualización de clusters.. Punto 2: Descartar componentes cambia distancias y, por lo tanto, fusiones.. Punto 3: Si se usan todas las componentes de PCA centrado, las distancias euclídeas se preservan.. Punto 4: Si se estandarizan scores o se truncan, se modifica la geometría..
Idea para enfatizar: La rotación ortogonal completa preserva distancias; la reducción no..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05 · Interpretación y aplicación.
JERÁRQUICO · NEGOCIO.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Heatmap de perfiles: ver si los segmentos son accionables.
ANÁLISIS DE SEGMENTOS.
Punto 1: Después del corte, calcular medias o medianas en variables originales.. Punto 2: En el ejemplo sintético, los grupos difieren en recencia, margen y canal.. Punto 3: Contrastar cada perfil con dispersión, tamaño y estabilidad.. Punto 4: No tratar la visualización del mapa de calor como evidencia causal..
Idea para enfatizar: El mapa de calor transforma una partición en hipótesis comerciales contrastables..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Jerárquico versus K-Means: dos preguntas diferentes.
ELECCIÓN DE MÉTODO.
Punto 1: K-Means: partición de K grupos que minimiza inercia localmente.. Punto 2: Jerárquico: secuencia de fusiones sujeta a distancia y linkage.. Punto 3: Ward comparte con K-Means énfasis en SSE, pero no optimizan idénticamente.. Punto 4: La elección depende de escalabilidad, forma, estabilidad y posibilidad de acción..
Idea para enfatizar: El dendrograma aporta lectura multiescala, no superioridad universal..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Cuatro criterios para adoptar una segmentación.
DECISIÓN RESPONSABLE.
Punto 1: Estructura: separación, cohesión y alturas de fusión.. Punto 2: Reproducibilidad: estabilidad frente a remuestreo y perturbaciones.. Punto 3: Interpretabilidad: variables originales distinguen grupos.. Punto 4: Viabilidad: costo de asignación, tamaño mínimo y tratamiento de clientes nuevos..
Idea para enfatizar: Sin valor diferencial verificable, una jerarquía compleja puede sobrar..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Simulaciones para reproducir cada transformación.
LABORATORIOS M10.
Punto 1: S10: construir matriz de distancias a partir de puntos movibles.. Punto 2: S11: animar fusiones y actualizar dendrograma paso a paso.. Punto 3: S12: comparar single, complete, average y Ward.. Punto 4: S13: mover el umbral de corte y observar clusters resultantes.. Punto 5: S14: estudiar chaining, sensibilidad y perfiles de negocio..
Idea para enfatizar: Cada control tiene que conectar cálculo, gráfico e interpretación..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Evaluación integradora: el árbol no decide por nosotros.
ACTIVIDAD DE CIERRE.
Punto 1: Single muestra dos grupos unidos por un puente; Ward muestra tres compactos.. Punto 2: Cortar Ward en K=4 crea un grupo de 3 clientes con alto margen.. Punto 3: En una submuestra desaparece ese microgrupo.. Punto 4: Diseñar validaciones antes de asignar presupuesto comercial..
Idea para enfatizar: El método ofrece alternativas; el analista construye la decisión defendible..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10 — Clustering jerárquico · Dendrogramas y linkages. Errores de lectura y fuentes esenciales.
REFERENCIAS.
Punto 1: Una hoja próxima en el gráfico no implica una distancia baja.. Punto 2: La altura de Ward no debe leerse siempre como distancia euclídea literal.. Punto 3: Murtagh &amp; Contreras (2012). Algorithms for hierarchical clustering.. Punto 4: Hastie, Tibshirani &amp; Friedman (2009); SciPy hierarchy y scikit-learn Clustering..
Idea para enfatizar: Las ramas sirven para investigar hipótesis, no para sustituir validación..
Invitar a los estudiantes a justificar el vínculo entre evidencia, supuestos y decisión empresarial. Los gráficos de ejemplo están realizados con datos sintéticos salvo que se indique otra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03504"/>
            <a:ext cx="6720840" cy="5504688"/>
          </a:xfrm>
          <a:prstGeom prst="roundRect">
            <a:avLst>
              <a:gd name="adj" fmla="val 26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9611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75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PARA DECISIONES DE NEGOCIO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32688" y="1499616"/>
            <a:ext cx="5212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32688" y="2011680"/>
            <a:ext cx="6035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Clustering jerárquico · Dendrogramas y linkages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941832" y="3831336"/>
            <a:ext cx="1828800" cy="0"/>
          </a:xfrm>
          <a:prstGeom prst="line">
            <a:avLst/>
          </a:prstGeom>
          <a:noFill/>
          <a:ln w="50800">
            <a:solidFill>
              <a:srgbClr val="FFCB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4133088"/>
            <a:ext cx="5715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la distancia entre observaciones a una jerarquía interpretable y operativa.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41832" y="5129784"/>
            <a:ext cx="5833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Clases conceptuales · Matemáticas · Evidencia visual · Decisión de negocio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88936" y="603504"/>
            <a:ext cx="4087368" cy="5504688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1" name="Image 0" descr="/home/runner/work/data-science-business-decisions/data-science-business-decisions/docs/modulos/10-clustering/presentaciones/fuentes/assets/h_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6952" y="1325880"/>
            <a:ext cx="3849624" cy="35478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36408" y="5266944"/>
            <a:ext cx="3520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Sergio Gevatschnaider  ·  Material de cátedra</a:t>
            </a:r>
            <a:endParaRPr lang="en-US" sz="1130" dirty="0"/>
          </a:p>
        </p:txBody>
      </p:sp>
      <p:sp>
        <p:nvSpPr>
          <p:cNvPr id="13" name="Shape 10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31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03_Jerarquico     ·     PROPÓSITO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construir jerarquías, no solo grupos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Investigar estructura anidada sin fijar K desde el inicio.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Observar el orden y la distancia a los que se fusionan grupos.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Seleccionar resoluciones apropiadas para distintas decisiones.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Distinguir jerarquía matemática de una jerarquía causal o empresarial.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187452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PREGUNTAS DE DECISIÓN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99632" y="2350008"/>
            <a:ext cx="5010912" cy="649224"/>
          </a:xfrm>
          <a:prstGeom prst="roundRect">
            <a:avLst>
              <a:gd name="adj" fmla="val 22535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2560320"/>
            <a:ext cx="237744" cy="23774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25603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21424" y="2404872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¿Cuántos niveles de segmentación interesan?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99632" y="3163824"/>
            <a:ext cx="5010912" cy="649224"/>
          </a:xfrm>
          <a:prstGeom prst="roundRect">
            <a:avLst>
              <a:gd name="adj" fmla="val 22535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9944" y="3374136"/>
            <a:ext cx="237744" cy="237744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9944" y="3374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21424" y="3218688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observaciones se parecen primero?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99632" y="3977640"/>
            <a:ext cx="5010912" cy="649224"/>
          </a:xfrm>
          <a:prstGeom prst="roundRect">
            <a:avLst>
              <a:gd name="adj" fmla="val 22535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9944" y="4187952"/>
            <a:ext cx="237744" cy="23774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9944" y="4187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21424" y="4032504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significa fusionar grupos?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99632" y="4791456"/>
            <a:ext cx="5010912" cy="649224"/>
          </a:xfrm>
          <a:prstGeom prst="roundRect">
            <a:avLst>
              <a:gd name="adj" fmla="val 22535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9944" y="5001768"/>
            <a:ext cx="237744" cy="237744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9944" y="5001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21424" y="4846320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punto de corte es útil?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dendrograma muestra una historia de fusiones, no “categorías naturales” definitivas.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31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03_Jerarquico     ·     CASO CONDUCTOR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mismo caso de 12 clientes facilita seguir fusiones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observación tiene frecuencia y margen estandarizados.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Primero se calcula una matriz de distancias entre pares.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principio cada cliente forma su propio grupo.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estrategia de linkage decide qué grupos se fusionan.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h_poi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pocos puntos podemos verificar a mano cada paso del algoritmo.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31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480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·  03_Jerarquico    /    SECCIÓN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128016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Cómo nace la jerarquía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264408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comienza con n grupos unitarios y se repite la fusión más cercana hasta obtener uno.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040880" y="1161288"/>
            <a:ext cx="4498848" cy="4471416"/>
          </a:xfrm>
          <a:prstGeom prst="roundRect">
            <a:avLst>
              <a:gd name="adj" fmla="val 3272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7" name="Image 0" descr="/home/runner/work/data-science-business-decisions/data-science-business-decisions/docs/modulos/10-clustering/presentaciones/fuentes/assets/h_poi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508760"/>
            <a:ext cx="4206240" cy="37124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31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03_Jerarquico     ·     MÉTRICA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matriz de distancias es el verdadero punto de partida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Distancia euclídea d(i,j) = √Σₘ(xᵢₘ − xⱼₘ)².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diagonal de la matriz vale cero y la matriz es simétrica.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escala define cuánto pesa cada variable en la proximidad.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tabla de distancias por sí sola no decide cómo combinar clusters.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h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 y linkage son elecciones distintas, que deben explicitarse.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31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03_Jerarquico     ·     ALGORITMO AGLOMERATIVO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Fusión paso a paso: 12 → 11 → … → 1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Buscar el par de clusters con mínima disimilitud según el linkage.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Unir ese par y registrar altura de fusión.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Actualizar distancias entre nuevo cluster y restantes.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Repetir hasta que todos los puntos pertenezcan a un único árbol.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7064" y="1828800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SECUENCIA DE ANÁLISIS</a:t>
            </a:r>
            <a:endParaRPr lang="en-US" sz="1210" dirty="0"/>
          </a:p>
        </p:txBody>
      </p:sp>
      <p:sp>
        <p:nvSpPr>
          <p:cNvPr id="18" name="Shape 16"/>
          <p:cNvSpPr/>
          <p:nvPr/>
        </p:nvSpPr>
        <p:spPr>
          <a:xfrm>
            <a:off x="6382512" y="23225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01968" y="2468880"/>
            <a:ext cx="192024" cy="19202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2592" y="23957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clusters individuales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8705088" y="28895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382512" y="30083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01968" y="3154680"/>
            <a:ext cx="192024" cy="192024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22592" y="30815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Mínimo par de distancias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8705088" y="35753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382512" y="36941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01968" y="3840480"/>
            <a:ext cx="192024" cy="192024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22592" y="37673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Fusionar y registrar altura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8705088" y="42611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382512" y="43799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01968" y="4526280"/>
            <a:ext cx="192024" cy="19202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22592" y="44531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Recalcular disimilitudes</a:t>
            </a:r>
            <a:endParaRPr lang="en-US" sz="1440" dirty="0"/>
          </a:p>
        </p:txBody>
      </p:sp>
      <p:sp>
        <p:nvSpPr>
          <p:cNvPr id="33" name="Shape 31"/>
          <p:cNvSpPr/>
          <p:nvPr/>
        </p:nvSpPr>
        <p:spPr>
          <a:xfrm>
            <a:off x="8705088" y="49469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382512" y="50657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01968" y="5212080"/>
            <a:ext cx="192024" cy="192024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22592" y="51389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 una jerarquía completa</a:t>
            </a:r>
            <a:endParaRPr lang="en-US" sz="1440" dirty="0"/>
          </a:p>
        </p:txBody>
      </p:sp>
      <p:sp>
        <p:nvSpPr>
          <p:cNvPr id="37" name="Shape 35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vez fusionados dos grupos, la versión aglomerativa no los separa.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31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03_Jerarquico     ·     ARITMÉTICA SENCILLA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manual con cuatro observaciones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A=(0,0), B=(0,1), C=(4,0), D=(4,1).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Distancias AB=CD=1; AC=BD=4; AD=BC=√17.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fusionan AB y CD (hay empate; el orden puede variar).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linkage entre AB y CD usa la menor distancia entre pares: 4.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828800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MATEMÁTICO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63056" y="2468880"/>
            <a:ext cx="5084064" cy="1143000"/>
          </a:xfrm>
          <a:prstGeom prst="roundRect">
            <a:avLst>
              <a:gd name="adj" fmla="val 128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578608"/>
            <a:ext cx="4681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5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d_single(AB, CD) = min{4, √17, √17, 4} = 4</a:t>
            </a:r>
            <a:endParaRPr lang="en-US" sz="2350" dirty="0"/>
          </a:p>
        </p:txBody>
      </p:sp>
      <p:sp>
        <p:nvSpPr>
          <p:cNvPr id="20" name="Shape 18"/>
          <p:cNvSpPr/>
          <p:nvPr/>
        </p:nvSpPr>
        <p:spPr>
          <a:xfrm>
            <a:off x="6227064" y="396849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840480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Altura 1: dos pares A–B y C–D.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227064" y="4489704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361688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Altura 4: fusionar ambos clusters.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227064" y="5010912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882896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complete: altura √17 ≈ 4,12.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227064" y="5532120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5404104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elección de linkage cambia el árbol.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dendrograma no es único si hay empates o cambia el criterio de fusión.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31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480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·  03_Jerarquico    /    SECCIÓN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128016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Aprender a leer dendrogramas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264408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información crucial está en la altura de fusión y en la estructura, no en el espacio horizontal.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040880" y="1161288"/>
            <a:ext cx="4498848" cy="4471416"/>
          </a:xfrm>
          <a:prstGeom prst="roundRect">
            <a:avLst>
              <a:gd name="adj" fmla="val 3272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7" name="Image 0" descr="/home/runner/work/data-science-business-decisions/data-science-business-decisions/docs/modulos/10-clustering/presentaciones/fuentes/assets/h_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508760"/>
            <a:ext cx="4206240" cy="37124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31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03_Jerarquico     ·     LECTURA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representa cada parte del dendrograma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hojas corresponden a observaciones originales.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ramas indican combinaciones sucesivas de grupos.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altura codifica el valor del criterio de disimilitud al fusionar.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Reordenar hojas puede cambiar el aspecto sin cambiar la jerarquía.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h_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posición horizontal no representa automáticamente una distancia medible.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31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03_Jerarquico     ·     CORTE HORIZONTAL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Cortar un árbol: del continuo jerárquico al K elegido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umbral h divide el árbol en componentes desconectadas.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Alternativamente, solicitar directamente un número de clusters.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Comparar niveles según estabilidad, tamaños y acción operativa.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mismo árbol admite segmentaciones gruesas y finas.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h_c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corte es una decisión analítica separada de la construcción del árbol.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31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480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·  03_Jerarquico    /    SECCIÓN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128016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Cuatro criterios de linkage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264408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Single, complete, average y Ward producen estructuras diferentes aun con los mismos puntos.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040880" y="1161288"/>
            <a:ext cx="4498848" cy="4471416"/>
          </a:xfrm>
          <a:prstGeom prst="roundRect">
            <a:avLst>
              <a:gd name="adj" fmla="val 3272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7" name="Image 0" descr="/home/runner/work/data-science-business-decisions/data-science-business-decisions/docs/modulos/10-clustering/presentaciones/fuentes/assets/h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508760"/>
            <a:ext cx="4206240" cy="37124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31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03_Jerarquico     ·     DISTANCIA ENTRE CONJUNTOS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linkage: distancia mínima entre clusters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D(A,B) = min d(a,b) para a∈A y b∈B.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Puede capturar formas alargadas y conectividad local.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Sufre el efecto chaining: un puente de puntos conecta grupos.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sensible a contactos accidentales entre regiones.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h_si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prioriza conectividad; no necesariamente compacidad.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31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03_Jerarquico     ·     DISTANCIA ENTRE CONJUNTOS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linkage: la distancia máxima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D(A,B) = max d(a,b) para a∈A y b∈B.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Favorece grupos de diámetro contenido y relativamente compactos.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Puede dividir estructuras largas que single sí conectaría.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elección depende de la topología esperada y el uso.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h_comple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minimiza la peor separación entre puntos de grupos unidos.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31</a:t>
            </a:r>
            <a:endParaRPr lang="en-US" sz="9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03_Jerarquico     ·     DISTANCIA ENTRE CONJUNTOS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linkage: promedio de distancias por pares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D(A,B) = promedio de d(a,b) sobre a∈A, b∈B.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ubica entre el énfasis conectivo de single y el compacto de complete.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equivale a distancia entre centroides en general.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sensible a la métrica y al peso de grupos grandes.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h_a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balancea múltiples relaciones en vez de mirar solo extremos.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31</a:t>
            </a:r>
            <a:endParaRPr lang="en-US" sz="9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03_Jerarquico     ·     CRITERIO DE VARIANZA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Ward: fusionar donde menos aumenta la inercia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Selecciona la fusión que menos eleva la SSE total dentro de clusters.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grupos A y B: ΔSSE = (nA nB)/(nA+nB) ‖μA−μB‖².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Tiende a generar conjuntos compactos y de tamaño relativamente equilibrado.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Requiere trabajar coherentemente con distancia euclídea en su formulación.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h_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altura graficada por software Ward depende de su convención; no siempre es ΔSSE literal.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31</a:t>
            </a:r>
            <a:endParaRPr lang="en-US" sz="9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03_Jerarquico     ·     COMPARACIÓN CONTROLADA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Comparar los cuatro árboles sobre la misma evidencia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Mantener puntos y escala exactamente iguales.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Cambiar exclusivamente el criterio de enlace.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Observar altas fusiones, grupos aislados y puentes.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Evaluar más de una partición: la comparación visual no basta.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h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cambio de árbol no surge de nuevos datos sino de la definición de proximidad.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31</a:t>
            </a:r>
            <a:endParaRPr lang="en-US" sz="9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03_Jerarquico     ·     CASO PATOLÓGICO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Chaining: cuando un puente “pega” estructuras diferentes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fusiona observaciones a través de vecinos cercanos sucesivos.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cadena de puntos puede conectar extremos muy separados.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penaliza el diámetro y ofrece un comportamiento diferente.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“mejor” solución depende de la noción de grupo que se quiera detectar.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h_chai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chaining no es un bug: es una consecuencia de la definición de single.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31</a:t>
            </a:r>
            <a:endParaRPr lang="en-US" sz="9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480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·  03_Jerarquico    /    SECCIÓN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128016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Validez y límites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264408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algoritmos construyen árboles completos aun cuando los datos no contienen agrupaciones significativas.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040880" y="1161288"/>
            <a:ext cx="4498848" cy="4471416"/>
          </a:xfrm>
          <a:prstGeom prst="roundRect">
            <a:avLst>
              <a:gd name="adj" fmla="val 3272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7" name="Image 0" descr="/home/runner/work/data-science-business-decisions/data-science-business-decisions/docs/modulos/10-clustering/presentaciones/fuentes/assets/h_scatter_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508760"/>
            <a:ext cx="4206240" cy="37124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31</a:t>
            </a:r>
            <a:endParaRPr lang="en-US" sz="9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03_Jerarquico     ·     PREPROCESAMIENTO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variables y la escala siguen gobernando el resultado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Estandarizar si las unidades y dispersiones no son comparables.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transformaciones pueden alterar distancias y orden de fusión.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Ward, la geometría euclídea es parte del criterio cuadrático.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Justificar la inclusión de variables relevantes para la acción.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pca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jerarquía no corrige datos mal definidos o mal escalados.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31</a:t>
            </a:r>
            <a:endParaRPr lang="en-US" sz="9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03_Jerarquico     ·     DISEÑO METODOLÓGICO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Distancia y linkage: combinaciones compatibles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Single/complete/average pueden usar diferentes métricas de distancia.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Ward está atado a un objetivo de suma de cuadrados euclídeos.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distancia de Manhattan puede ser útil, pero cambia interpretación.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Nunca reportar “Ward + cualquier métrica” sin verificar implementación.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828800"/>
            <a:ext cx="5047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1344" y="228600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7918704" y="235915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Mínimo par / diversas métricas.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181344" y="310896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3200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7918704" y="318211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Máximo par / diversas métricas.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181344" y="393192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4224" y="4023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7918704" y="400507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Promedio / diversas métricas.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6181344" y="475488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4846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WARD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7918704" y="482803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Incremento SSE / marco euclídeo.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consistencia matemática entre métrica y criterio es una exigencia, no un detalle.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31</a:t>
            </a:r>
            <a:endParaRPr lang="en-US" sz="9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03_Jerarquico     ·     DIAGNÓSTICO DE AJUSTE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Coeficiente cofenético: cómo deforma las distancias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distancia cofenética de dos puntos es la altura a la que se unen.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correlacionan distancias originales con cofenéticas.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Correlación alta significa fidelidad global del árbol a esas distancias.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garantiza separación real ni utilidad de clusters para decisiones.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828800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MATEMÁTICO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63056" y="2468880"/>
            <a:ext cx="5084064" cy="1143000"/>
          </a:xfrm>
          <a:prstGeom prst="roundRect">
            <a:avLst>
              <a:gd name="adj" fmla="val 128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578608"/>
            <a:ext cx="4681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5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r_coph = corr(dᵢⱼ, cᵢⱼ)</a:t>
            </a:r>
            <a:endParaRPr lang="en-US" sz="2350" dirty="0"/>
          </a:p>
        </p:txBody>
      </p:sp>
      <p:sp>
        <p:nvSpPr>
          <p:cNvPr id="20" name="Shape 18"/>
          <p:cNvSpPr/>
          <p:nvPr/>
        </p:nvSpPr>
        <p:spPr>
          <a:xfrm>
            <a:off x="6227064" y="3968496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840480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dᵢⱼ: distancia original entre i y j.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227064" y="4489704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361688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cᵢⱼ: altura de fusión en el árbol.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227064" y="5010912"/>
            <a:ext cx="118872" cy="118872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882896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Comparar linkages manteniendo misma matriz.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227064" y="5532120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5404104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confundir fidelidad geométrica con utilidad.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una medida de representación de distancias, no un “certificado de clusters”.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/ 31</a:t>
            </a:r>
            <a:endParaRPr lang="en-US" sz="9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03_Jerarquico     ·     COMPLEJIDAD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Costo computacional: por qué no escalar ciegamente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matriz de distancias completa contiene n(n−1)/2 pares.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Requiere O(n²) memoria para distancias densas.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tiempo depende de algoritmo, linkage e implementación.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cientos de miles de clientes conviene submuestrear o usar alternativas.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185623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REGLAS DE DECISIÓN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27064" y="2468880"/>
            <a:ext cx="2514600" cy="1298448"/>
          </a:xfrm>
          <a:prstGeom prst="roundRect">
            <a:avLst>
              <a:gd name="adj" fmla="val 11268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2624328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n²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409944" y="3044952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Número de distancias crece cuadráticamente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97112" y="2468880"/>
            <a:ext cx="2514600" cy="1298448"/>
          </a:xfrm>
          <a:prstGeom prst="roundRect">
            <a:avLst>
              <a:gd name="adj" fmla="val 11268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79992" y="2624328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10k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079992" y="3044952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Casi 50 M de pares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27064" y="3986784"/>
            <a:ext cx="2514600" cy="1298448"/>
          </a:xfrm>
          <a:prstGeom prst="roundRect">
            <a:avLst>
              <a:gd name="adj" fmla="val 11268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4142232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409944" y="4562856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Puede ser el cuello de botella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97112" y="3986784"/>
            <a:ext cx="2514600" cy="1298448"/>
          </a:xfrm>
          <a:prstGeom prst="roundRect">
            <a:avLst>
              <a:gd name="adj" fmla="val 11268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79992" y="4142232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MUESTRA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079992" y="4562856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Evaluar escalabilidad antes de desplegar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dendrograma completo no siempre es la herramienta operacional escalable.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/ 31</a:t>
            </a:r>
            <a:endParaRPr lang="en-US" sz="9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03_Jerarquico     ·     ROBUSTEZ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Ruido, outliers y estabilidad del árbol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observación atípica puede unirse al final y alterar alturas.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Pequeñas perturbaciones de datos pueden modificar ramas cercanas.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Comparar cortes en bootstrap, ventanas temporales o submuestras.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Medir concordancia de particiones sin comparar IDs arbitrarios.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h_poi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Priorizar las divisiones reproducibles por sobre historias atractivas del árbol.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/ 31</a:t>
            </a:r>
            <a:endParaRPr lang="en-US" sz="9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03_Jerarquico     ·     INTEGRACIÓN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¿PCA antes del clustering jerárquico?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 puede atenuar redundancia y facilitar visualización de clusters.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Descartar componentes cambia distancias y, por lo tanto, fusiones.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se usan todas las componentes de PCA centrado, las distancias euclídeas se preservan.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se estandarizan scores o se truncan, se modifica la geometría.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pca_geome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rotación ortogonal completa preserva distancias; la reducción no.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/ 31</a:t>
            </a:r>
            <a:endParaRPr lang="en-US" sz="9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4805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·  03_Jerarquico    /    SECCIÓN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128016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Interpretación y aplicación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264408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niveles del árbol pueden corresponder a decisiones de distinta granularidad si se validan.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040880" y="1161288"/>
            <a:ext cx="4498848" cy="4471416"/>
          </a:xfrm>
          <a:prstGeom prst="roundRect">
            <a:avLst>
              <a:gd name="adj" fmla="val 3272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7" name="Image 0" descr="/home/runner/work/data-science-business-decisions/data-science-business-decisions/docs/modulos/10-clustering/presentaciones/fuentes/assets/h_prof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508760"/>
            <a:ext cx="4206240" cy="37124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/ 31</a:t>
            </a:r>
            <a:endParaRPr lang="en-US" sz="9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03_Jerarquico     ·     ANÁLISIS DE SEGMENTOS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Heatmap de perfiles: ver si los segmentos son accionables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Después del corte, calcular medias o medianas en variables originales.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ejemplo sintético, los grupos difieren en recencia, margen y canal.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Contrastar cada perfil con dispersión, tamaño y estabilidad.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tratar la visualización del mapa de calor como evidencia causal.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pic>
        <p:nvPicPr>
          <p:cNvPr id="17" name="Image 0" descr="/home/runner/work/data-science-business-decisions/data-science-business-decisions/docs/modulos/10-clustering/presentaciones/fuentes/assets/h_prof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55648"/>
            <a:ext cx="5321808" cy="3749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135624" y="5596128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spc="6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ESQUEMA / DATOS SINTÉTICOS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mapa de calor transforma una partición en hipótesis comerciales contrastables.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/ 31</a:t>
            </a:r>
            <a:endParaRPr lang="en-US" sz="9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03_Jerarquico     ·     ELECCIÓN DE MÉTODO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Jerárquico versus K-Means: dos preguntas diferentes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K-Means: partición de K grupos que minimiza inercia localmente.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Jerárquico: secuencia de fusiones sujeta a distancia y linkage.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Ward comparte con K-Means énfasis en SSE, pero no optimizan idénticamente.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elección depende de escalabilidad, forma, estabilidad y posibilidad de acción.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828800"/>
            <a:ext cx="5047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1344" y="228600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K-MEANS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7918704" y="235915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inicial, centroides, reasignación.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181344" y="310896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3200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JERÁRQUICO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7918704" y="318211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Árbol y cortes con niveles múltiples.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181344" y="393192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4224" y="4023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SIMILITUD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7918704" y="400507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Ambos dependen de escala y variables.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6181344" y="4754880"/>
            <a:ext cx="5047488" cy="731520"/>
          </a:xfrm>
          <a:prstGeom prst="roundRect">
            <a:avLst>
              <a:gd name="adj" fmla="val 20000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4846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7918704" y="4828032"/>
            <a:ext cx="3127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Perfiles + estabilidad + utilidad externa.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dendrograma aporta lectura multiescala, no superioridad universal.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/ 31</a:t>
            </a:r>
            <a:endParaRPr lang="en-US" sz="9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03_Jerarquico     ·     DECISIÓN RESPONSABLE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Cuatro criterios para adoptar una segmentación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Estructura: separación, cohesión y alturas de fusión.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Reproducibilidad: estabilidad frente a remuestreo y perturbaciones.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Interpretabilidad: variables originales distinguen grupos.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Viabilidad: costo de asignación, tamaño mínimo y tratamiento de clientes nuevos.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185623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REGLAS DE DECISIÓN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27064" y="2468880"/>
            <a:ext cx="2514600" cy="1298448"/>
          </a:xfrm>
          <a:prstGeom prst="roundRect">
            <a:avLst>
              <a:gd name="adj" fmla="val 11268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2624328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409944" y="3044952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Estructura geométrica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97112" y="2468880"/>
            <a:ext cx="2514600" cy="1298448"/>
          </a:xfrm>
          <a:prstGeom prst="roundRect">
            <a:avLst>
              <a:gd name="adj" fmla="val 11268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79992" y="2624328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079992" y="3044952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Estabilidad de grupos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27064" y="3986784"/>
            <a:ext cx="2514600" cy="1298448"/>
          </a:xfrm>
          <a:prstGeom prst="roundRect">
            <a:avLst>
              <a:gd name="adj" fmla="val 11268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4142232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409944" y="4562856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Perfiles interpretables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97112" y="3986784"/>
            <a:ext cx="2514600" cy="1298448"/>
          </a:xfrm>
          <a:prstGeom prst="roundRect">
            <a:avLst>
              <a:gd name="adj" fmla="val 11268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79992" y="4142232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079992" y="4562856"/>
            <a:ext cx="2139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 y operación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valor diferencial verificable, una jerarquía compleja puede sobrar.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/ 31</a:t>
            </a:r>
            <a:endParaRPr lang="en-US" sz="9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03_Jerarquico     ·     LABORATORIOS M10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Simulaciones para reproducir cada transformación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S10: construir matriz de distancias a partir de puntos movibles.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990088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88950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S11: animar fusiones y actualizar dendrograma paso a paso.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703320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60273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S12: comparar single, complete, average y Ward.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41655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31596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S13: mover el umbral de corte y observar clusters resultantes.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5129784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502920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S14: estudiar chaining, sensibilidad y perfiles de negocio.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1828800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SECUENCIA DE ANÁLISIS</a:t>
            </a:r>
            <a:endParaRPr lang="en-US" sz="1210" dirty="0"/>
          </a:p>
        </p:txBody>
      </p:sp>
      <p:sp>
        <p:nvSpPr>
          <p:cNvPr id="20" name="Shape 18"/>
          <p:cNvSpPr/>
          <p:nvPr/>
        </p:nvSpPr>
        <p:spPr>
          <a:xfrm>
            <a:off x="6382512" y="23225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01968" y="2468880"/>
            <a:ext cx="192024" cy="19202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2592" y="23957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S10 · Distancias interactivas</a:t>
            </a:r>
            <a:endParaRPr lang="en-US" sz="1440" dirty="0"/>
          </a:p>
        </p:txBody>
      </p:sp>
      <p:sp>
        <p:nvSpPr>
          <p:cNvPr id="23" name="Shape 21"/>
          <p:cNvSpPr/>
          <p:nvPr/>
        </p:nvSpPr>
        <p:spPr>
          <a:xfrm>
            <a:off x="8705088" y="28895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382512" y="30083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01968" y="3154680"/>
            <a:ext cx="192024" cy="192024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22592" y="30815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S11 · Fusiones una a una</a:t>
            </a:r>
            <a:endParaRPr lang="en-US" sz="1440" dirty="0"/>
          </a:p>
        </p:txBody>
      </p:sp>
      <p:sp>
        <p:nvSpPr>
          <p:cNvPr id="27" name="Shape 25"/>
          <p:cNvSpPr/>
          <p:nvPr/>
        </p:nvSpPr>
        <p:spPr>
          <a:xfrm>
            <a:off x="8705088" y="35753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382512" y="36941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01968" y="3840480"/>
            <a:ext cx="192024" cy="192024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22592" y="37673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S12 · Linkages lado a lado</a:t>
            </a:r>
            <a:endParaRPr lang="en-US" sz="1440" dirty="0"/>
          </a:p>
        </p:txBody>
      </p:sp>
      <p:sp>
        <p:nvSpPr>
          <p:cNvPr id="31" name="Shape 29"/>
          <p:cNvSpPr/>
          <p:nvPr/>
        </p:nvSpPr>
        <p:spPr>
          <a:xfrm>
            <a:off x="8705088" y="42611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382512" y="43799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01968" y="4526280"/>
            <a:ext cx="192024" cy="19202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22592" y="44531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S13 · Corte y partición</a:t>
            </a:r>
            <a:endParaRPr lang="en-US" sz="1440" dirty="0"/>
          </a:p>
        </p:txBody>
      </p:sp>
      <p:sp>
        <p:nvSpPr>
          <p:cNvPr id="35" name="Shape 33"/>
          <p:cNvSpPr/>
          <p:nvPr/>
        </p:nvSpPr>
        <p:spPr>
          <a:xfrm>
            <a:off x="8705088" y="49469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382512" y="50657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01968" y="5212080"/>
            <a:ext cx="192024" cy="192024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22592" y="51389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S14 · Puentes / estabilidad / negocio</a:t>
            </a:r>
            <a:endParaRPr lang="en-US" sz="1440" dirty="0"/>
          </a:p>
        </p:txBody>
      </p:sp>
      <p:sp>
        <p:nvSpPr>
          <p:cNvPr id="39" name="Shape 37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control tiene que conectar cálculo, gráfico e interpretación.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/ 31</a:t>
            </a:r>
            <a:endParaRPr lang="en-US" sz="9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03_Jerarquico     ·     ACTIVIDAD DE CIERRE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Evaluación integradora: el árbol no decide por nosotros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muestra dos grupos unidos por un puente; Ward muestra tres compactos.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Cortar Ward en K=4 crea un grupo de 3 clientes con alto margen.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una submuestra desaparece ese microgrupo.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Diseñar validaciones antes de asignar presupuesto comercial.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187452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14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PREGUNTAS DE DECISIÓN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99632" y="2350008"/>
            <a:ext cx="5010912" cy="649224"/>
          </a:xfrm>
          <a:prstGeom prst="roundRect">
            <a:avLst>
              <a:gd name="adj" fmla="val 22535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2560320"/>
            <a:ext cx="237744" cy="23774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25603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21424" y="2404872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¿Cuál es el supuesto de cada linkage?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99632" y="3163824"/>
            <a:ext cx="5010912" cy="649224"/>
          </a:xfrm>
          <a:prstGeom prst="roundRect">
            <a:avLst>
              <a:gd name="adj" fmla="val 22535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9944" y="3374136"/>
            <a:ext cx="237744" cy="237744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9944" y="3374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21424" y="3218688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evidencia favorece cierto corte?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99632" y="3977640"/>
            <a:ext cx="5010912" cy="649224"/>
          </a:xfrm>
          <a:prstGeom prst="roundRect">
            <a:avLst>
              <a:gd name="adj" fmla="val 22535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9944" y="4187952"/>
            <a:ext cx="237744" cy="23774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9944" y="4187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21424" y="4032504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¿Cuánto pesan tres clientes en el negocio?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99632" y="4791456"/>
            <a:ext cx="5010912" cy="649224"/>
          </a:xfrm>
          <a:prstGeom prst="roundRect">
            <a:avLst>
              <a:gd name="adj" fmla="val 22535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9944" y="5001768"/>
            <a:ext cx="237744" cy="237744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9944" y="5001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16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21424" y="4846320"/>
            <a:ext cx="4334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experimento validarías primero?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método ofrece alternativas; el analista construye la decisión defendible.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/ 31</a:t>
            </a:r>
            <a:endParaRPr lang="en-US" sz="92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816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CB7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9224" y="274320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/  03_Jerarquico     ·     REFERENCIAS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49808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Errores de lectura y fuentes esenciales</a:t>
            </a:r>
            <a:endParaRPr lang="en-US" sz="264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0917936" cy="0"/>
          </a:xfrm>
          <a:prstGeom prst="line">
            <a:avLst/>
          </a:prstGeom>
          <a:noFill/>
          <a:ln w="12700">
            <a:solidFill>
              <a:srgbClr val="2943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" y="1554480"/>
            <a:ext cx="5065776" cy="4343400"/>
          </a:xfrm>
          <a:prstGeom prst="roundRect">
            <a:avLst>
              <a:gd name="adj" fmla="val 3158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773936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IDEAS CLAVE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76856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17627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hoja próxima en el gráfico no implica una distancia baja.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914400" y="3136392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035808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altura de Ward no debe leerse siempre como distancia euclídea literal.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914400" y="3995928"/>
            <a:ext cx="118872" cy="118872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3895344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Murtagh &amp; Contreras (2012). Algorithms for hierarchical clustering.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14400" y="4855464"/>
            <a:ext cx="118872" cy="118872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4754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8D9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Hastie, Tibshirani &amp; Friedman (2009); SciPy hierarchy y scikit-learn Clustering.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907024" y="1554480"/>
            <a:ext cx="5596128" cy="4343400"/>
          </a:xfrm>
          <a:prstGeom prst="roundRect">
            <a:avLst>
              <a:gd name="adj" fmla="val 3579"/>
            </a:avLst>
          </a:prstGeom>
          <a:solidFill>
            <a:srgbClr val="10233B"/>
          </a:solidFill>
          <a:ln w="11430">
            <a:solidFill>
              <a:srgbClr val="1023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7064" y="1828800"/>
            <a:ext cx="4956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spc="100" kern="0" dirty="0">
                <a:solidFill>
                  <a:srgbClr val="48DF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SECUENCIA DE ANÁLISIS</a:t>
            </a:r>
            <a:endParaRPr lang="en-US" sz="1210" dirty="0"/>
          </a:p>
        </p:txBody>
      </p:sp>
      <p:sp>
        <p:nvSpPr>
          <p:cNvPr id="18" name="Shape 16"/>
          <p:cNvSpPr/>
          <p:nvPr/>
        </p:nvSpPr>
        <p:spPr>
          <a:xfrm>
            <a:off x="6382512" y="23225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01968" y="2468880"/>
            <a:ext cx="192024" cy="19202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2592" y="23957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métrica + linkage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8705088" y="28895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382512" y="30083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01968" y="3154680"/>
            <a:ext cx="192024" cy="192024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22592" y="30815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 y leer el árbol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8705088" y="35753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382512" y="36941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01968" y="3840480"/>
            <a:ext cx="192024" cy="192024"/>
          </a:xfrm>
          <a:prstGeom prst="ellipse">
            <a:avLst/>
          </a:prstGeom>
          <a:solidFill>
            <a:srgbClr val="FFCB70"/>
          </a:solidFill>
          <a:ln w="12700">
            <a:solidFill>
              <a:srgbClr val="FFCB7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22592" y="37673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Elegir y justificar el corte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8705088" y="42611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382512" y="43799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01968" y="4526280"/>
            <a:ext cx="192024" cy="192024"/>
          </a:xfrm>
          <a:prstGeom prst="ellipse">
            <a:avLst/>
          </a:prstGeom>
          <a:solidFill>
            <a:srgbClr val="48DFC5"/>
          </a:solidFill>
          <a:ln w="12700">
            <a:solidFill>
              <a:srgbClr val="48DFC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22592" y="44531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 estabilidad + perfiles</a:t>
            </a:r>
            <a:endParaRPr lang="en-US" sz="1440" dirty="0"/>
          </a:p>
        </p:txBody>
      </p:sp>
      <p:sp>
        <p:nvSpPr>
          <p:cNvPr id="33" name="Shape 31"/>
          <p:cNvSpPr/>
          <p:nvPr/>
        </p:nvSpPr>
        <p:spPr>
          <a:xfrm>
            <a:off x="8705088" y="4946904"/>
            <a:ext cx="0" cy="118872"/>
          </a:xfrm>
          <a:prstGeom prst="line">
            <a:avLst/>
          </a:prstGeom>
          <a:noFill/>
          <a:ln w="15240">
            <a:solidFill>
              <a:srgbClr val="93ADC5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382512" y="5065776"/>
            <a:ext cx="4645152" cy="566928"/>
          </a:xfrm>
          <a:prstGeom prst="roundRect">
            <a:avLst>
              <a:gd name="adj" fmla="val 25806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01968" y="5212080"/>
            <a:ext cx="192024" cy="192024"/>
          </a:xfrm>
          <a:prstGeom prst="ellipse">
            <a:avLst/>
          </a:prstGeom>
          <a:solidFill>
            <a:srgbClr val="72A7FA"/>
          </a:solidFill>
          <a:ln w="12700">
            <a:solidFill>
              <a:srgbClr val="72A7F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22592" y="513892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4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Comprobar impacto del negocio</a:t>
            </a:r>
            <a:endParaRPr lang="en-US" sz="1440" dirty="0"/>
          </a:p>
        </p:txBody>
      </p:sp>
      <p:sp>
        <p:nvSpPr>
          <p:cNvPr id="37" name="Shape 35"/>
          <p:cNvSpPr/>
          <p:nvPr/>
        </p:nvSpPr>
        <p:spPr>
          <a:xfrm>
            <a:off x="667512" y="6025896"/>
            <a:ext cx="10908792" cy="356616"/>
          </a:xfrm>
          <a:prstGeom prst="roundRect">
            <a:avLst>
              <a:gd name="adj" fmla="val 25641"/>
            </a:avLst>
          </a:prstGeom>
          <a:solidFill>
            <a:srgbClr val="142C47"/>
          </a:solidFill>
          <a:ln w="11430">
            <a:solidFill>
              <a:srgbClr val="142C4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" y="61264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60" kern="0" dirty="0">
                <a:solidFill>
                  <a:srgbClr val="FFCB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 QUE DEBE QUEDAR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2779776" y="6089904"/>
            <a:ext cx="8531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ramas sirven para investigar hipótesis, no para sustituir validación.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" y="6533388"/>
            <a:ext cx="10972800" cy="0"/>
          </a:xfrm>
          <a:prstGeom prst="line">
            <a:avLst/>
          </a:prstGeom>
          <a:noFill/>
          <a:ln w="10160">
            <a:solidFill>
              <a:srgbClr val="29435A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659282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CIENCIA DE DATOS · DECISIONES DE NEGOCIO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58000" y="6588252"/>
            <a:ext cx="3108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93AD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MÓDULO 10  /  JERARQUICO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561320" y="657453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2F7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 / 31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Ciencia de Datos para Decisiones de Negocio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M10 — Clustering jerárquico · Dendrogramas y linkages</dc:title>
  <dc:subject>Módulo 10 · PCA, K-Means y clustering jerárquico</dc:subject>
  <dc:creator>Sergio Gevatschnaider</dc:creator>
  <cp:lastModifiedBy>Sergio Gevatschnaider</cp:lastModifiedBy>
  <cp:revision>1</cp:revision>
  <dcterms:created xsi:type="dcterms:W3CDTF">2026-10-11T13:42:34Z</dcterms:created>
  <dcterms:modified xsi:type="dcterms:W3CDTF">2026-10-11T13:42:34Z</dcterms:modified>
</cp:coreProperties>
</file>