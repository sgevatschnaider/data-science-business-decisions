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1df8a1f363473a" /><Relationship Type="http://schemas.openxmlformats.org/officeDocument/2006/relationships/extended-properties" Target="/docProps/app.xml" Id="R9883b72e67d24945" /><Relationship Type="http://schemas.openxmlformats.org/officeDocument/2006/relationships/officeDocument" Target="/ppt/presentation.xml" Id="Rcff32f1710304b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1291ba201f457a"/>
  </p:sldMasterIdLst>
  <p:notesMasterIdLst>
    <p:notesMasterId xmlns:r="http://schemas.openxmlformats.org/officeDocument/2006/relationships" r:id="R702bf26a92944a86"/>
  </p:notesMasterIdLst>
  <p:sldIdLst>
    <p:sldId xmlns:r="http://schemas.openxmlformats.org/officeDocument/2006/relationships" id="256" r:id="R7fa309c3b6744cf9"/>
    <p:sldId xmlns:r="http://schemas.openxmlformats.org/officeDocument/2006/relationships" id="257" r:id="R8ad97cb168634728"/>
    <p:sldId xmlns:r="http://schemas.openxmlformats.org/officeDocument/2006/relationships" id="258" r:id="R3c56246bb1ee4840"/>
    <p:sldId xmlns:r="http://schemas.openxmlformats.org/officeDocument/2006/relationships" id="259" r:id="R6676cc2d720346c8"/>
    <p:sldId xmlns:r="http://schemas.openxmlformats.org/officeDocument/2006/relationships" id="260" r:id="R605d081c75ef4645"/>
    <p:sldId xmlns:r="http://schemas.openxmlformats.org/officeDocument/2006/relationships" id="261" r:id="Ra01cf61fd3fe4470"/>
    <p:sldId xmlns:r="http://schemas.openxmlformats.org/officeDocument/2006/relationships" id="262" r:id="R153930cd152f4d56"/>
    <p:sldId xmlns:r="http://schemas.openxmlformats.org/officeDocument/2006/relationships" id="263" r:id="Rf217956c55da4c76"/>
    <p:sldId xmlns:r="http://schemas.openxmlformats.org/officeDocument/2006/relationships" id="264" r:id="Ra0e60aef053042a1"/>
    <p:sldId xmlns:r="http://schemas.openxmlformats.org/officeDocument/2006/relationships" id="265" r:id="R908d43628c8b4c22"/>
    <p:sldId xmlns:r="http://schemas.openxmlformats.org/officeDocument/2006/relationships" id="266" r:id="Rade4a320ff134c51"/>
    <p:sldId xmlns:r="http://schemas.openxmlformats.org/officeDocument/2006/relationships" id="267" r:id="R727bc9c1b9e64047"/>
    <p:sldId xmlns:r="http://schemas.openxmlformats.org/officeDocument/2006/relationships" id="268" r:id="Rae47491091f443aa"/>
    <p:sldId xmlns:r="http://schemas.openxmlformats.org/officeDocument/2006/relationships" id="269" r:id="Rb39d5241f45d4b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fe6ede42774d38" /><Relationship Type="http://schemas.openxmlformats.org/officeDocument/2006/relationships/slideMaster" Target="/ppt/slideMasters/slideMaster1.xml" Id="R331291ba201f457a" /><Relationship Type="http://schemas.openxmlformats.org/officeDocument/2006/relationships/notesMaster" Target="/ppt/notesMasters/notesMaster1.xml" Id="R702bf26a92944a86" /><Relationship Type="http://schemas.openxmlformats.org/officeDocument/2006/relationships/presProps" Target="/ppt/presProps.xml" Id="Rd3e3a995d9724644" /><Relationship Type="http://schemas.openxmlformats.org/officeDocument/2006/relationships/tableStyles" Target="/ppt/tableStyles.xml" Id="R8c7927dd644c4b08" /><Relationship Type="http://schemas.openxmlformats.org/officeDocument/2006/relationships/slide" Target="/ppt/slides/slide1.xml" Id="R7fa309c3b6744cf9" /><Relationship Type="http://schemas.openxmlformats.org/officeDocument/2006/relationships/slide" Target="/ppt/slides/slide2.xml" Id="R8ad97cb168634728" /><Relationship Type="http://schemas.openxmlformats.org/officeDocument/2006/relationships/slide" Target="/ppt/slides/slide3.xml" Id="R3c56246bb1ee4840" /><Relationship Type="http://schemas.openxmlformats.org/officeDocument/2006/relationships/slide" Target="/ppt/slides/slide4.xml" Id="R6676cc2d720346c8" /><Relationship Type="http://schemas.openxmlformats.org/officeDocument/2006/relationships/slide" Target="/ppt/slides/slide5.xml" Id="R605d081c75ef4645" /><Relationship Type="http://schemas.openxmlformats.org/officeDocument/2006/relationships/slide" Target="/ppt/slides/slide6.xml" Id="Ra01cf61fd3fe4470" /><Relationship Type="http://schemas.openxmlformats.org/officeDocument/2006/relationships/slide" Target="/ppt/slides/slide7.xml" Id="R153930cd152f4d56" /><Relationship Type="http://schemas.openxmlformats.org/officeDocument/2006/relationships/slide" Target="/ppt/slides/slide8.xml" Id="Rf217956c55da4c76" /><Relationship Type="http://schemas.openxmlformats.org/officeDocument/2006/relationships/slide" Target="/ppt/slides/slide9.xml" Id="Ra0e60aef053042a1" /><Relationship Type="http://schemas.openxmlformats.org/officeDocument/2006/relationships/slide" Target="/ppt/slides/slide10.xml" Id="R908d43628c8b4c22" /><Relationship Type="http://schemas.openxmlformats.org/officeDocument/2006/relationships/slide" Target="/ppt/slides/slide11.xml" Id="Rade4a320ff134c51" /><Relationship Type="http://schemas.openxmlformats.org/officeDocument/2006/relationships/slide" Target="/ppt/slides/slide12.xml" Id="R727bc9c1b9e64047" /><Relationship Type="http://schemas.openxmlformats.org/officeDocument/2006/relationships/slide" Target="/ppt/slides/slide13.xml" Id="Rae47491091f443aa" /><Relationship Type="http://schemas.openxmlformats.org/officeDocument/2006/relationships/slide" Target="/ppt/slides/slide14.xml" Id="Rb39d5241f45d4b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6d6281bf3c4a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af7a4cb3964704" /><Relationship Type="http://schemas.openxmlformats.org/officeDocument/2006/relationships/notesMaster" Target="/ppt/notesMasters/notesMaster1.xml" Id="R9c11b36a77f14b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9b108471a34748" /><Relationship Type="http://schemas.openxmlformats.org/officeDocument/2006/relationships/notesMaster" Target="/ppt/notesMasters/notesMaster1.xml" Id="R24e634c696bc4e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c7ff4fe87842ce" /><Relationship Type="http://schemas.openxmlformats.org/officeDocument/2006/relationships/notesMaster" Target="/ppt/notesMasters/notesMaster1.xml" Id="R175bb91420174c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a31b842a86444a" /><Relationship Type="http://schemas.openxmlformats.org/officeDocument/2006/relationships/notesMaster" Target="/ppt/notesMasters/notesMaster1.xml" Id="Rb9e9452fcbf844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18154e36b94444" /><Relationship Type="http://schemas.openxmlformats.org/officeDocument/2006/relationships/notesMaster" Target="/ppt/notesMasters/notesMaster1.xml" Id="Rc6def56fea6e48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7ece67c5aa4ac4" /><Relationship Type="http://schemas.openxmlformats.org/officeDocument/2006/relationships/notesMaster" Target="/ppt/notesMasters/notesMaster1.xml" Id="Rbc29e8a58e8f4d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b23fd18d084305" /><Relationship Type="http://schemas.openxmlformats.org/officeDocument/2006/relationships/notesMaster" Target="/ppt/notesMasters/notesMaster1.xml" Id="Rd5e12cbfb93240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5f0476433e4a70" /><Relationship Type="http://schemas.openxmlformats.org/officeDocument/2006/relationships/notesMaster" Target="/ppt/notesMasters/notesMaster1.xml" Id="Re5c4e582b00448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c598bc587a446b" /><Relationship Type="http://schemas.openxmlformats.org/officeDocument/2006/relationships/notesMaster" Target="/ppt/notesMasters/notesMaster1.xml" Id="R0a68cc1c521144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775a92957f4f53" /><Relationship Type="http://schemas.openxmlformats.org/officeDocument/2006/relationships/notesMaster" Target="/ppt/notesMasters/notesMaster1.xml" Id="R1c2fbf1d542a43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70f92707954bee" /><Relationship Type="http://schemas.openxmlformats.org/officeDocument/2006/relationships/notesMaster" Target="/ppt/notesMasters/notesMaster1.xml" Id="Ra29329c8675c44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fae37d51b7441b" /><Relationship Type="http://schemas.openxmlformats.org/officeDocument/2006/relationships/notesMaster" Target="/ppt/notesMasters/notesMaster1.xml" Id="R45416d331ea24c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4930dd152f479d" /><Relationship Type="http://schemas.openxmlformats.org/officeDocument/2006/relationships/notesMaster" Target="/ppt/notesMasters/notesMaster1.xml" Id="Rc7b4a448aa3547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0b503283be4cb7" /><Relationship Type="http://schemas.openxmlformats.org/officeDocument/2006/relationships/notesMaster" Target="/ppt/notesMasters/notesMaster1.xml" Id="Rebdb3106e3d046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Presentar la transformación como una decisión de representación: los datos conservan su significado de negocio, pero cambia la geometría que recibe el algoritmo.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https://github.com/sgevatschnaider/data-science-business-decisions</a:t>
            </a:r>
          </a:p>
          <a:p xmlns:a="http://schemas.openxmlformats.org/drawingml/2006/main">
            <a:r>
              <a:t>- https://scikit-learn.org/stable/modules/preprocessing.html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Usar un ejemplo cotidiano: expresar ingresos en pesos o en millones no debería alterar la decisión, pero sí puede alterar un algoritmo sensible a 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Aclarar una confusión frecuente: estandarizar no vuelve normal una variable. Solo centra y reescala.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Subrayar la diferencia entre StandardScaler, que opera por columna, y Normalizer, que opera por fila.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La invariancia de los árboles es práctica, no una licencia para ignorar la calidad de datos. El escalado puede seguir importando en pipelines mixtos o por estabilidad numérica.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Mostrar que la importancia numérica no equivale a importancia predictiva ni económica. La escala debe elegirse por el algoritmo y el objetivo.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Explicar que escalar no siempre es obligatorio: si las unidades y varianzas son sustantivamente comparables, la PCA sobre covarianzas puede ser defendible. La elección debe documentarse.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Conectar con decisiones de negocio: una venta corporativa excepcional puede ser error, evento real o segmento distinto. Antes de elegir un scaler, decidir qué significa.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Pedir que los estudiantes formulen una evidencia diagnóstica para cada decisión: histograma, cuantiles, rango, proporción de ceros o sensibilidad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Aclarar que imputación y transformación pueden intercambiar orden según la técnica y el mecanismo de faltantes. El pipeline debe hacer explícita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Distinguir fit de transform. El test recibe parámetros aprendidos en train; no participa en su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La tabla es un punto de partida. La elección final se valida con métricas predictivas, estabilidad y capacidad de explicación.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Solución orientativa: KNN con transformación de forma si corresponde y escalado; RF no necesita escalar pero sí tratar semántica/categorías; Ridge puede transformar y y escalar X; documentos suelen normalizarse por fila.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- https://scikit-learn.org/stable/auto_examples/preprocessing/plot_scaling_importance.html</a:t>
            </a:r>
          </a:p>
          <a:p xmlns:a="http://schemas.openxmlformats.org/drawingml/2006/main">
            <a:r>
              <a:t>-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docentes:</a:t>
            </a:r>
          </a:p>
          <a:p xmlns:a="http://schemas.openxmlformats.org/drawingml/2006/main">
            <a:r>
              <a:t>Cierre del módulo.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base suministrado por el profesor en la consigna.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0c82ad16342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72b61b23a84118" /><Relationship Type="http://schemas.openxmlformats.org/officeDocument/2006/relationships/slideLayout" Target="/ppt/slideLayouts/slideLayout1.xml" Id="Rdb5ae6dac43743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5ae6dac43743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6d43bbbe54696" /><Relationship Type="http://schemas.openxmlformats.org/officeDocument/2006/relationships/notesSlide" Target="/ppt/notesSlides/notesSlide1.xml" Id="R6eb4e04a30df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fcb280d63480a" /><Relationship Type="http://schemas.openxmlformats.org/officeDocument/2006/relationships/notesSlide" Target="/ppt/notesSlides/notesSlide2.xml" Id="Rc528e8c8ebd44f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c8160c7fb4fff" /><Relationship Type="http://schemas.openxmlformats.org/officeDocument/2006/relationships/notesSlide" Target="/ppt/notesSlides/notesSlide3.xml" Id="Re9ead41a23cf44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44ff9cefb4f99" /><Relationship Type="http://schemas.openxmlformats.org/officeDocument/2006/relationships/notesSlide" Target="/ppt/notesSlides/notesSlide4.xml" Id="R2bfdcd44218e47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b2773618a40cd" /><Relationship Type="http://schemas.openxmlformats.org/officeDocument/2006/relationships/notesSlide" Target="/ppt/notesSlides/notesSlide5.xml" Id="Rfcf83f8a9a3b4d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71ee7970448ab" /><Relationship Type="http://schemas.openxmlformats.org/officeDocument/2006/relationships/chart" Target="/ppt/slides/charts/chart1.xml" Id="Rc03d7d87df8a4482" /><Relationship Type="http://schemas.openxmlformats.org/officeDocument/2006/relationships/notesSlide" Target="/ppt/notesSlides/notesSlide6.xml" Id="R1a89e04b631c48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ec0414ead49a5" /><Relationship Type="http://schemas.openxmlformats.org/officeDocument/2006/relationships/notesSlide" Target="/ppt/notesSlides/notesSlide7.xml" Id="R091bcac0f14444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d78ff7b84414f" /><Relationship Type="http://schemas.openxmlformats.org/officeDocument/2006/relationships/notesSlide" Target="/ppt/notesSlides/notesSlide8.xml" Id="R5aa37298277e48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79da897a84e33" /><Relationship Type="http://schemas.openxmlformats.org/officeDocument/2006/relationships/notesSlide" Target="/ppt/notesSlides/notesSlide9.xml" Id="R8bdc087ac6e04e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b76be71c74282" /><Relationship Type="http://schemas.openxmlformats.org/officeDocument/2006/relationships/notesSlide" Target="/ppt/notesSlides/notesSlide10.xml" Id="Rd3215c56d85949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be1bf7f694b83" /><Relationship Type="http://schemas.openxmlformats.org/officeDocument/2006/relationships/notesSlide" Target="/ppt/notesSlides/notesSlide11.xml" Id="R84275134338c48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21e23c4794d4b" /><Relationship Type="http://schemas.openxmlformats.org/officeDocument/2006/relationships/notesSlide" Target="/ppt/notesSlides/notesSlide12.xml" Id="R9eff6c1d8e1347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1c6509d8b4bac" /><Relationship Type="http://schemas.openxmlformats.org/officeDocument/2006/relationships/notesSlide" Target="/ppt/notesSlides/notesSlide13.xml" Id="R22595901360249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a2044bf924ba2" /><Relationship Type="http://schemas.openxmlformats.org/officeDocument/2006/relationships/notesSlide" Target="/ppt/notesSlides/notesSlide14.xml" Id="Rd43fe69a15134b4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Diferencia absoluta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Δ edad</c:v>
              </c:pt>
              <c:pt idx="1">
                <c:v>Δ ingreso</c:v>
              </c:pt>
            </c:strLit>
          </c:cat>
          <c:val>
            <c:numLit>
              <c:formatCode>General</c:formatCode>
              <c:ptCount val="2"/>
              <c:pt idx="0">
                <c:v>20</c:v>
              </c:pt>
              <c:pt idx="1">
                <c:v>60000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556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Magnitud numérica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556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9961745-1646-489F-8893-BE32B912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F5BA5008-F189-4D1A-BF00-93C40048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386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30878BB-0D5E-40D3-A547-EE991B09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9060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F46040E-F91F-441E-804B-DF766EF3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4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Transformar variables es diseñar el espacio donde aprende el modelo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E63C888-237F-49CC-A361-DBA80882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Fundamentos, geometría, diagnóstico y criterio de decisión</a:t>
            </a:r>
          </a:p>
        </p:txBody>
      </p:sp>
      <p:sp>
        <p:nvSpPr>
          <p:cNvPr id="6" name="cover-strapline">
            <a:extLst xmlns:a="http://schemas.openxmlformats.org/drawingml/2006/main">
              <a:ext uri="{FF2B5EF4-FFF2-40B4-BE49-F238E27FC236}">
                <a16:creationId xmlns:a16="http://schemas.microsoft.com/office/drawing/2014/main" id="{58314E0C-ECB3-4A57-A257-545E3D44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Teoría · práctica · aplicaciones · decisiones</a:t>
            </a:r>
          </a:p>
        </p:txBody>
      </p:sp>
      <p:sp>
        <p:nvSpPr>
          <p:cNvPr id="7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14BCEB79-C988-4533-8A94-85C78167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34745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D10D84BB-34E3-4826-96D8-5D9BCC8E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BCB865-9A14-4024-9EBC-7A61A8EC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unidad de medida puede cambiar el modelo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4F5B476-6525-4708-B026-26E52C8B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89C5D4-7CEC-4CFC-A479-D13DAC17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7D657634-D614-4E73-AE64-79CFA3C2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hero-statement">
            <a:extLst xmlns:a="http://schemas.openxmlformats.org/drawingml/2006/main">
              <a:ext uri="{FF2B5EF4-FFF2-40B4-BE49-F238E27FC236}">
                <a16:creationId xmlns:a16="http://schemas.microsoft.com/office/drawing/2014/main" id="{CDBEF654-3509-4320-856A-BB5B5686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7429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Un modelo no sabe que pesos, años y kilómetros son unidades arbitrarias.</a:t>
            </a:r>
          </a:p>
        </p:txBody>
      </p:sp>
      <p:sp>
        <p:nvSpPr>
          <p:cNvPr id="7" name="hero-panel">
            <a:extLst xmlns:a="http://schemas.openxmlformats.org/drawingml/2006/main">
              <a:ext uri="{FF2B5EF4-FFF2-40B4-BE49-F238E27FC236}">
                <a16:creationId xmlns:a16="http://schemas.microsoft.com/office/drawing/2014/main" id="{498B92AA-0F7C-4474-B9AE-4D963DF4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32194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ro-aside-title">
            <a:extLst xmlns:a="http://schemas.openxmlformats.org/drawingml/2006/main">
              <a:ext uri="{FF2B5EF4-FFF2-40B4-BE49-F238E27FC236}">
                <a16:creationId xmlns:a16="http://schemas.microsoft.com/office/drawing/2014/main" id="{A9E75AB0-7DF3-43B7-A86D-EA3DD8B9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Consecuencia</a:t>
            </a:r>
          </a:p>
        </p:txBody>
      </p:sp>
      <p:sp>
        <p:nvSpPr>
          <p:cNvPr id="9" name="hero-aside">
            <a:extLst xmlns:a="http://schemas.openxmlformats.org/drawingml/2006/main">
              <a:ext uri="{FF2B5EF4-FFF2-40B4-BE49-F238E27FC236}">
                <a16:creationId xmlns:a16="http://schemas.microsoft.com/office/drawing/2014/main" id="{564A0EBB-0513-4789-96A4-5A84C29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25717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78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 una variable tiene números mucho mayores, puede dominar distancias, varianzas, gradientes o penalizaciones sin ser más importante para el negocio.</a:t>
            </a:r>
          </a:p>
        </p:txBody>
      </p:sp>
      <p:sp>
        <p:nvSpPr>
          <p:cNvPr id="10" name="hero-bottom">
            <a:extLst xmlns:a="http://schemas.openxmlformats.org/drawingml/2006/main">
              <a:ext uri="{FF2B5EF4-FFF2-40B4-BE49-F238E27FC236}">
                <a16:creationId xmlns:a16="http://schemas.microsoft.com/office/drawing/2014/main" id="{3A73E5E8-C02D-4F7E-87BB-C02B9917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Transformar no agrega información: cambia cómo el algoritmo la pondera y la combina.</a:t>
            </a:r>
          </a:p>
        </p:txBody>
      </p:sp>
    </p:spTree>
    <p:extLst>
      <p:ext uri="{BB962C8B-B14F-4D97-AF65-F5344CB8AC3E}">
        <p14:creationId xmlns:p14="http://schemas.microsoft.com/office/powerpoint/2010/main" val="679237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8886F7FA-A245-4457-B651-0FFF0C97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3314C8-896F-49B6-A5FF-53DE4629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Escalado y transformación responden preguntas distintas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8BD9446-3B67-4AE1-A97F-F80E5D9A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AB36140-2AC7-46DD-B71C-DC509AFB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946EC1DD-CACA-4DFE-8DA6-DB7FB788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2CB8ED3A-BA9C-4D60-B5F8-B3B4B925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Ambas operaciones modifican números; solo una busca cambiar la forma de la distribución.</a:t>
            </a:r>
          </a:p>
        </p:txBody>
      </p:sp>
      <p:sp>
        <p:nvSpPr>
          <p:cNvPr id="7" name="left-field">
            <a:extLst xmlns:a="http://schemas.openxmlformats.org/drawingml/2006/main">
              <a:ext uri="{FF2B5EF4-FFF2-40B4-BE49-F238E27FC236}">
                <a16:creationId xmlns:a16="http://schemas.microsoft.com/office/drawing/2014/main" id="{45564968-4AD4-45A8-87F8-292B0745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52959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right-field">
            <a:extLst xmlns:a="http://schemas.openxmlformats.org/drawingml/2006/main">
              <a:ext uri="{FF2B5EF4-FFF2-40B4-BE49-F238E27FC236}">
                <a16:creationId xmlns:a16="http://schemas.microsoft.com/office/drawing/2014/main" id="{C5563E8E-5258-414F-83B1-93641EF6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52959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FA5E5566-1D05-4EB8-890E-14128250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Escalado</a:t>
            </a:r>
          </a:p>
        </p:txBody>
      </p:sp>
      <p:sp>
        <p:nvSpPr>
          <p:cNvPr id="10" name="left-formula">
            <a:extLst xmlns:a="http://schemas.openxmlformats.org/drawingml/2006/main">
              <a:ext uri="{FF2B5EF4-FFF2-40B4-BE49-F238E27FC236}">
                <a16:creationId xmlns:a16="http://schemas.microsoft.com/office/drawing/2014/main" id="{A745C4C2-1FCA-4997-9343-A14A9DAC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52400" tIns="133350" rIns="1524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x′ = a·x + b</a:t>
            </a:r>
          </a:p>
        </p:txBody>
      </p:sp>
      <p:sp>
        <p:nvSpPr>
          <p:cNvPr id="11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29A21400-7F15-46C8-8EF0-0B3A0E69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476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Hace comparables las magnitudes.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Conserva orden, asimetría y forma relativa.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Ejemplos: Standard, Min‑Max, Robust, MaxAbs.</a:t>
            </a:r>
          </a:p>
        </p:txBody>
      </p:sp>
      <p:sp>
        <p:nvSpPr>
          <p:cNvPr id="12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5A1D3C55-9690-442C-8220-337A7468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Transformación de forma</a:t>
            </a:r>
          </a:p>
        </p:txBody>
      </p:sp>
      <p:sp>
        <p:nvSpPr>
          <p:cNvPr id="13" name="right-formula">
            <a:extLst xmlns:a="http://schemas.openxmlformats.org/drawingml/2006/main">
              <a:ext uri="{FF2B5EF4-FFF2-40B4-BE49-F238E27FC236}">
                <a16:creationId xmlns:a16="http://schemas.microsoft.com/office/drawing/2014/main" id="{7442ADB1-FE52-4C7A-BC24-9F3CEC59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52400" tIns="133350" rIns="1524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x′ = f(x), no lineal</a:t>
            </a:r>
          </a:p>
        </p:txBody>
      </p:sp>
      <p:sp>
        <p:nvSpPr>
          <p:cNvPr id="14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E1CC3A34-A3E4-4A6C-949C-93700EFE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24350"/>
            <a:ext cx="476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Reduce sesgo o estabiliza varianza.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Cambia distancias y relaciones marginales.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Ejemplos: log, Box‑Cox, Yeo‑Johnson, cuantiles.</a:t>
            </a:r>
          </a:p>
        </p:txBody>
      </p:sp>
    </p:spTree>
    <p:extLst>
      <p:ext uri="{BB962C8B-B14F-4D97-AF65-F5344CB8AC3E}">
        <p14:creationId xmlns:p14="http://schemas.microsoft.com/office/powerpoint/2010/main" val="357284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794A7507-A6E0-401A-973F-EDFD0191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4E4C6B-67B5-4F21-BE56-B750AF9B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Primero hay que decidir qué objeto se transforma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5539C68-FA93-4F26-8355-65EEC47C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615AB12-695D-4641-A2C0-1E38994C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13E89501-A076-43D0-807C-630F1094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589858A1-814E-43B8-84E4-A20D2B6E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Feature, observación y variable objetivo requieren criterios diferentes.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476500"/>
          <a:ext xmlns:a="http://schemas.openxmlformats.org/drawingml/2006/main" cx="11125200" cy="3133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12144"/>
                <a:gridCol w="2433637"/>
                <a:gridCol w="4171950"/>
                <a:gridCol w="2607469"/>
              </a:tblGrid>
              <a:tr h="5222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Objeto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Operación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Pregunta que responde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Ejemplo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Cada feature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Escalar o cambiar forma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¿Cómo compara el modelo las columnas?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Edad e ingreso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Cada observación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Normalizar la norma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¿Importa la dirección más que el tamaño?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Texto o perfiles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Objetivo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Transformar + invertir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¿Conviene modelar errores relativos?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Ventas o costos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Categorías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Codificar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¿Cómo representar niveles y orden?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Canal o segmento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Tiempo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Descomponer o ciclar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¿Cómo conservar periodicidad?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Hora o 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-bottom">
            <a:extLst xmlns:a="http://schemas.openxmlformats.org/drawingml/2006/main">
              <a:ext uri="{FF2B5EF4-FFF2-40B4-BE49-F238E27FC236}">
                <a16:creationId xmlns:a16="http://schemas.microsoft.com/office/drawing/2014/main" id="{7E018B85-A1FE-4D38-9D76-C49C3FF0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La misma palabra “normalizar” suele mezclar operaciones que actúan sobre objetos distintos.</a:t>
            </a:r>
          </a:p>
        </p:txBody>
      </p:sp>
    </p:spTree>
    <p:extLst>
      <p:ext uri="{BB962C8B-B14F-4D97-AF65-F5344CB8AC3E}">
        <p14:creationId xmlns:p14="http://schemas.microsoft.com/office/powerpoint/2010/main" val="820670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FDDBA18B-BB5D-4B03-8049-BAC77F0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125099-2488-4CE5-9E11-8DEB58DD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sensibilidad aparece cuando el algoritmo mide magnitudes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7ED2382-58E6-4489-A644-EC7FDD79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3C7EDB-CACA-48F9-8236-BB0AACBB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B3386ED6-14BF-425B-A413-AEFD43DC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BE4ADEE9-F7BF-42E8-B1BF-5C167494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Distancias, productos internos, varianzas y gradientes heredan la escala de entrada.</a:t>
            </a:r>
          </a:p>
        </p:txBody>
      </p:sp>
      <p:sp>
        <p:nvSpPr>
          <p:cNvPr id="7" name="formula-field">
            <a:extLst xmlns:a="http://schemas.openxmlformats.org/drawingml/2006/main">
              <a:ext uri="{FF2B5EF4-FFF2-40B4-BE49-F238E27FC236}">
                <a16:creationId xmlns:a16="http://schemas.microsoft.com/office/drawing/2014/main" id="{6A338454-16E5-4417-8B92-8EB08D4D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381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rmula">
            <a:extLst xmlns:a="http://schemas.openxmlformats.org/drawingml/2006/main">
              <a:ext uri="{FF2B5EF4-FFF2-40B4-BE49-F238E27FC236}">
                <a16:creationId xmlns:a16="http://schemas.microsoft.com/office/drawing/2014/main" id="{2DE92A7D-9096-4C09-B2FA-2AB7BB7C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d(x,z) = √Σⱼ (xⱼ − zⱼ)²</a:t>
            </a:r>
          </a:p>
        </p:txBody>
      </p:sp>
      <p:sp>
        <p:nvSpPr>
          <p:cNvPr id="9" name="example-title">
            <a:extLst xmlns:a="http://schemas.openxmlformats.org/drawingml/2006/main">
              <a:ext uri="{FF2B5EF4-FFF2-40B4-BE49-F238E27FC236}">
                <a16:creationId xmlns:a16="http://schemas.microsoft.com/office/drawing/2014/main" id="{016759D3-BBF5-4667-BC86-ED0BA526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Regla práctica</a:t>
            </a:r>
          </a:p>
        </p:txBody>
      </p:sp>
      <p:sp>
        <p:nvSpPr>
          <p:cNvPr id="10" name="example">
            <a:extLst xmlns:a="http://schemas.openxmlformats.org/drawingml/2006/main">
              <a:ext uri="{FF2B5EF4-FFF2-40B4-BE49-F238E27FC236}">
                <a16:creationId xmlns:a16="http://schemas.microsoft.com/office/drawing/2014/main" id="{2B9C4436-8173-4DAD-AB9E-AE79AE48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05150"/>
            <a:ext cx="4210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 la fórmula suma magnitudes de varias variables, la escala casi siempre importa.</a:t>
            </a:r>
          </a:p>
        </p:txBody>
      </p:sp>
      <p:sp>
        <p:nvSpPr>
          <p:cNvPr id="11" name="formula-bullets">
            <a:extLst xmlns:a="http://schemas.openxmlformats.org/drawingml/2006/main">
              <a:ext uri="{FF2B5EF4-FFF2-40B4-BE49-F238E27FC236}">
                <a16:creationId xmlns:a16="http://schemas.microsoft.com/office/drawing/2014/main" id="{4DEC7FC0-79D1-4064-AA0D-73FC21BA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11252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Muy sensibles: KNN, K‑means, clustering jerárquico, SVM y PCA.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Sensibles por optimización o penalización: redes neuronales, Ridge, Lasso y regresión logística.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Poco sensibles: árboles y ensambles de árboles, porque dividen por umbrales.</a:t>
            </a:r>
          </a:p>
        </p:txBody>
      </p:sp>
    </p:spTree>
    <p:extLst>
      <p:ext uri="{BB962C8B-B14F-4D97-AF65-F5344CB8AC3E}">
        <p14:creationId xmlns:p14="http://schemas.microsoft.com/office/powerpoint/2010/main" val="1531903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8F5F4E76-E9E9-47C1-B2B1-863B155F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E3A1B9-B511-42A5-9F89-EA9098B6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Una variable puede secuestrar una distancia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3018D10-5345-45F1-98A4-BD905BFE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FE9F5A-E33C-4509-9F39-65578244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6D08D9D7-CF14-4062-B0B3-DCF1C80A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1D347111-ADF5-4E06-91C8-8E49D085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Dos clientes difieren 20 años de edad y 60.000 unidades monetarias de ingreso.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33400" y="2476500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3d7d87df8a4482"/>
          </a:graphicData>
        </a:graphic>
      </p:graphicFrame>
      <p:sp>
        <p:nvSpPr>
          <p:cNvPr id="8" name="callout-heading-1">
            <a:extLst xmlns:a="http://schemas.openxmlformats.org/drawingml/2006/main">
              <a:ext uri="{FF2B5EF4-FFF2-40B4-BE49-F238E27FC236}">
                <a16:creationId xmlns:a16="http://schemas.microsoft.com/office/drawing/2014/main" id="{3951F6D2-7956-490E-983C-09CE6842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3752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Sin escalar</a:t>
            </a:r>
          </a:p>
        </p:txBody>
      </p:sp>
      <p:sp>
        <p:nvSpPr>
          <p:cNvPr id="9" name="callout-text-1">
            <a:extLst xmlns:a="http://schemas.openxmlformats.org/drawingml/2006/main">
              <a:ext uri="{FF2B5EF4-FFF2-40B4-BE49-F238E27FC236}">
                <a16:creationId xmlns:a16="http://schemas.microsoft.com/office/drawing/2014/main" id="{217E22F4-9404-4D6E-BCA4-62C5B135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752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distancia es casi exclusivamente monetaria.</a:t>
            </a:r>
          </a:p>
        </p:txBody>
      </p:sp>
      <p:sp>
        <p:nvSpPr>
          <p:cNvPr id="10" name="callout-heading-2">
            <a:extLst xmlns:a="http://schemas.openxmlformats.org/drawingml/2006/main">
              <a:ext uri="{FF2B5EF4-FFF2-40B4-BE49-F238E27FC236}">
                <a16:creationId xmlns:a16="http://schemas.microsoft.com/office/drawing/2014/main" id="{D503DE33-2A4F-4452-8C36-03C1236E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3752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Después de escalar</a:t>
            </a:r>
          </a:p>
        </p:txBody>
      </p:sp>
      <p:sp>
        <p:nvSpPr>
          <p:cNvPr id="11" name="callout-text-2">
            <a:extLst xmlns:a="http://schemas.openxmlformats.org/drawingml/2006/main">
              <a:ext uri="{FF2B5EF4-FFF2-40B4-BE49-F238E27FC236}">
                <a16:creationId xmlns:a16="http://schemas.microsoft.com/office/drawing/2014/main" id="{8306D141-5F4E-4429-AD87-CBE9CE2F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3752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Edad e ingreso pueden contribuir en órdenes comparables.</a:t>
            </a:r>
          </a:p>
        </p:txBody>
      </p:sp>
      <p:sp>
        <p:nvSpPr>
          <p:cNvPr id="12" name="callout-heading-3">
            <a:extLst xmlns:a="http://schemas.openxmlformats.org/drawingml/2006/main">
              <a:ext uri="{FF2B5EF4-FFF2-40B4-BE49-F238E27FC236}">
                <a16:creationId xmlns:a16="http://schemas.microsoft.com/office/drawing/2014/main" id="{1681D621-F7F2-46F4-82A5-5CA87DFC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24400"/>
            <a:ext cx="3752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13" name="callout-text-3">
            <a:extLst xmlns:a="http://schemas.openxmlformats.org/drawingml/2006/main">
              <a:ext uri="{FF2B5EF4-FFF2-40B4-BE49-F238E27FC236}">
                <a16:creationId xmlns:a16="http://schemas.microsoft.com/office/drawing/2014/main" id="{FCD767D5-0B22-4D57-BA29-0537D13D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43500"/>
            <a:ext cx="3752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 unidad deja de actuar como peso oculto.</a:t>
            </a:r>
          </a:p>
        </p:txBody>
      </p:sp>
    </p:spTree>
    <p:extLst>
      <p:ext uri="{BB962C8B-B14F-4D97-AF65-F5344CB8AC3E}">
        <p14:creationId xmlns:p14="http://schemas.microsoft.com/office/powerpoint/2010/main" val="11391204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1538D5C5-7021-4485-8B2D-1CB50430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3D625E-7132-482C-98A3-97047C21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PCA maximiza varianza, no relevancia de negocio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C1B60FA-D921-44AB-B9EA-7EC95C01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4B31A6-17C3-410D-B5BF-27E0566F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B8E9464D-F329-4B94-A998-EF2F1C39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D1950D33-0E04-450D-997E-66B22E83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Sin escalado, una columna expresada en unidades grandes puede orientar el primer componente.</a:t>
            </a:r>
          </a:p>
        </p:txBody>
      </p:sp>
      <p:sp>
        <p:nvSpPr>
          <p:cNvPr id="7" name="left-field">
            <a:extLst xmlns:a="http://schemas.openxmlformats.org/drawingml/2006/main">
              <a:ext uri="{FF2B5EF4-FFF2-40B4-BE49-F238E27FC236}">
                <a16:creationId xmlns:a16="http://schemas.microsoft.com/office/drawing/2014/main" id="{42702EB0-6E2E-4710-A31C-43D7D27C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52959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right-field">
            <a:extLst xmlns:a="http://schemas.openxmlformats.org/drawingml/2006/main">
              <a:ext uri="{FF2B5EF4-FFF2-40B4-BE49-F238E27FC236}">
                <a16:creationId xmlns:a16="http://schemas.microsoft.com/office/drawing/2014/main" id="{F228AB57-1BA6-4A63-94B5-C8217F06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52959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A6877CB7-042E-4836-A72C-04959193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PCA sobre datos crudos</a:t>
            </a:r>
          </a:p>
        </p:txBody>
      </p:sp>
      <p:sp>
        <p:nvSpPr>
          <p:cNvPr id="10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D0A33CF5-DFF8-4AA7-A91E-688836FD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762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La varianza depende de la unidad.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Ingresos en pesos eclipsan edades en años.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El componente puede reflejar escala, no estructura.</a:t>
            </a:r>
          </a:p>
        </p:txBody>
      </p:sp>
      <p:sp>
        <p:nvSpPr>
          <p:cNvPr id="11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61559857-D70E-4130-9B40-18860599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PCA después de estandarizar</a:t>
            </a:r>
          </a:p>
        </p:txBody>
      </p:sp>
      <p:sp>
        <p:nvSpPr>
          <p:cNvPr id="12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757A0091-3AA5-4512-A923-019D1A0E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4762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Cada feature parte con varianza comparable.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La correlación gana protagonismo.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La interpretación cambia: ahora es relativa al desvío.</a:t>
            </a:r>
          </a:p>
        </p:txBody>
      </p:sp>
    </p:spTree>
    <p:extLst>
      <p:ext uri="{BB962C8B-B14F-4D97-AF65-F5344CB8AC3E}">
        <p14:creationId xmlns:p14="http://schemas.microsoft.com/office/powerpoint/2010/main" val="263792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298A0F77-5456-49C1-8CE1-97FBD642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9207A8-F8E5-43AF-BD03-B9AB9216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Los outliers cambian el centro que usamos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B324F4-D273-4ABA-9191-B08F96C7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6E089BC-E47A-4F3B-BA78-E5024917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0C62E927-30A8-47AA-99FA-7F43974D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6C33A867-D5D2-4ACC-B692-0996D562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Media, desvío, mínimo y máximo son estadísticas sensibles a valores extremos.</a:t>
            </a:r>
          </a:p>
        </p:txBody>
      </p:sp>
      <p:sp>
        <p:nvSpPr>
          <p:cNvPr id="7" name="left-field">
            <a:extLst xmlns:a="http://schemas.openxmlformats.org/drawingml/2006/main">
              <a:ext uri="{FF2B5EF4-FFF2-40B4-BE49-F238E27FC236}">
                <a16:creationId xmlns:a16="http://schemas.microsoft.com/office/drawing/2014/main" id="{4D08DA0E-F9D3-43F9-8BD6-EBE0DD21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52959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right-field">
            <a:extLst xmlns:a="http://schemas.openxmlformats.org/drawingml/2006/main">
              <a:ext uri="{FF2B5EF4-FFF2-40B4-BE49-F238E27FC236}">
                <a16:creationId xmlns:a16="http://schemas.microsoft.com/office/drawing/2014/main" id="{42B64951-811A-4852-84F9-6BB08C9F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52959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36BF3A92-9DCD-4B39-ADC6-40A0B470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Centro clásico</a:t>
            </a:r>
          </a:p>
        </p:txBody>
      </p:sp>
      <p:sp>
        <p:nvSpPr>
          <p:cNvPr id="10" name="left-formula">
            <a:extLst xmlns:a="http://schemas.openxmlformats.org/drawingml/2006/main">
              <a:ext uri="{FF2B5EF4-FFF2-40B4-BE49-F238E27FC236}">
                <a16:creationId xmlns:a16="http://schemas.microsoft.com/office/drawing/2014/main" id="{F83C8967-D122-47EB-B046-8D2749E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52400" tIns="133350" rIns="1524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media + desvío</a:t>
            </a:r>
          </a:p>
        </p:txBody>
      </p:sp>
      <p:sp>
        <p:nvSpPr>
          <p:cNvPr id="11" name="left-bullets">
            <a:extLst xmlns:a="http://schemas.openxmlformats.org/drawingml/2006/main">
              <a:ext uri="{FF2B5EF4-FFF2-40B4-BE49-F238E27FC236}">
                <a16:creationId xmlns:a16="http://schemas.microsoft.com/office/drawing/2014/main" id="{5D9CC19A-DDFD-4EC1-AD59-FED0AC38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476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Aprovecha toda la información.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Es eficiente bajo supuestos regulares.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Puede desplazarse mucho con extremos.</a:t>
            </a:r>
          </a:p>
        </p:txBody>
      </p:sp>
      <p:sp>
        <p:nvSpPr>
          <p:cNvPr id="12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FBEA5058-954A-4898-A737-425F2BCC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Centro robusto</a:t>
            </a:r>
          </a:p>
        </p:txBody>
      </p:sp>
      <p:sp>
        <p:nvSpPr>
          <p:cNvPr id="13" name="right-formula">
            <a:extLst xmlns:a="http://schemas.openxmlformats.org/drawingml/2006/main">
              <a:ext uri="{FF2B5EF4-FFF2-40B4-BE49-F238E27FC236}">
                <a16:creationId xmlns:a16="http://schemas.microsoft.com/office/drawing/2014/main" id="{34D9F285-4195-463E-A0C9-03738C39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52400" tIns="133350" rIns="1524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mediana + IQR</a:t>
            </a:r>
          </a:p>
        </p:txBody>
      </p:sp>
      <p:sp>
        <p:nvSpPr>
          <p:cNvPr id="14" name="right-bullets">
            <a:extLst xmlns:a="http://schemas.openxmlformats.org/drawingml/2006/main">
              <a:ext uri="{FF2B5EF4-FFF2-40B4-BE49-F238E27FC236}">
                <a16:creationId xmlns:a16="http://schemas.microsoft.com/office/drawing/2014/main" id="{1B858431-8B71-4956-8483-48A196A4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24350"/>
            <a:ext cx="476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Tolera mejor pocos valores enormes.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Conserva los outliers: no los elimina.</a:t>
            </a:r>
          </a:p>
          <a:p xmlns:a="http://schemas.openxmlformats.org/drawingml/2006/main">
            <a:pPr marL="24" indent="-12">
              <a:spcAft>
                <a:spcPts val="950"/>
              </a:spcAft>
              <a:buChar char="•"/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Puede ser preferible en montos y conteos.</a:t>
            </a:r>
          </a:p>
        </p:txBody>
      </p:sp>
    </p:spTree>
    <p:extLst>
      <p:ext uri="{BB962C8B-B14F-4D97-AF65-F5344CB8AC3E}">
        <p14:creationId xmlns:p14="http://schemas.microsoft.com/office/powerpoint/2010/main" val="763738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8234F68B-995B-4438-B887-5CB4AFC0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CCB54A-E3BB-479A-86D6-1EDA0D0D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 diagnóstico debe preceder a la receta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A94FA78-D846-486C-9407-4CC62FB0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8C0FC40-0C84-4707-AA4D-D497B22B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C0EABE85-116A-45BE-9378-C6E930AC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EABB4B17-42AA-41DC-AAA2-ED4BD169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Para cada variable, responder estas preguntas antes de transformar.</a:t>
            </a:r>
          </a:p>
        </p:txBody>
      </p:sp>
      <p:sp>
        <p:nvSpPr>
          <p:cNvPr id="7" name="activity-number-1">
            <a:extLst xmlns:a="http://schemas.openxmlformats.org/drawingml/2006/main">
              <a:ext uri="{FF2B5EF4-FFF2-40B4-BE49-F238E27FC236}">
                <a16:creationId xmlns:a16="http://schemas.microsoft.com/office/drawing/2014/main" id="{DA32C657-323A-4F74-93F9-8AD6CC0A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activity-item-1">
            <a:extLst xmlns:a="http://schemas.openxmlformats.org/drawingml/2006/main">
              <a:ext uri="{FF2B5EF4-FFF2-40B4-BE49-F238E27FC236}">
                <a16:creationId xmlns:a16="http://schemas.microsoft.com/office/drawing/2014/main" id="{72C7761B-A4A9-4FFA-B5EC-6645F406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¿La variable es numérica continua, conteo, proporción, categoría, fecha o identificador?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3B8FA581-91A6-4C07-B34D-FEF7CA4E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623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activity-number-2">
            <a:extLst xmlns:a="http://schemas.openxmlformats.org/drawingml/2006/main">
              <a:ext uri="{FF2B5EF4-FFF2-40B4-BE49-F238E27FC236}">
                <a16:creationId xmlns:a16="http://schemas.microsoft.com/office/drawing/2014/main" id="{4D834E54-A6E5-4EC6-A791-6F3707D9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activity-item-2">
            <a:extLst xmlns:a="http://schemas.openxmlformats.org/drawingml/2006/main">
              <a:ext uri="{FF2B5EF4-FFF2-40B4-BE49-F238E27FC236}">
                <a16:creationId xmlns:a16="http://schemas.microsoft.com/office/drawing/2014/main" id="{E06314BA-2DED-4CF2-86B1-CEE1E405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¿Hay ceros, negativos, límites naturales, cola larga o valores extremos?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5E7F91A7-BE0B-457D-A589-9080123E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activity-number-3">
            <a:extLst xmlns:a="http://schemas.openxmlformats.org/drawingml/2006/main">
              <a:ext uri="{FF2B5EF4-FFF2-40B4-BE49-F238E27FC236}">
                <a16:creationId xmlns:a16="http://schemas.microsoft.com/office/drawing/2014/main" id="{34A21B09-B4C4-4116-99EE-2FEB5F10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activity-item-3">
            <a:extLst xmlns:a="http://schemas.openxmlformats.org/drawingml/2006/main">
              <a:ext uri="{FF2B5EF4-FFF2-40B4-BE49-F238E27FC236}">
                <a16:creationId xmlns:a16="http://schemas.microsoft.com/office/drawing/2014/main" id="{577B1178-86F3-4521-926A-716AEF2B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¿El modelo usa distancias, varianzas, gradientes, productos internos o umbrales?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A818B35D-AC0F-43C2-BC77-E9B7D60E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482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activity-number-4">
            <a:extLst xmlns:a="http://schemas.openxmlformats.org/drawingml/2006/main">
              <a:ext uri="{FF2B5EF4-FFF2-40B4-BE49-F238E27FC236}">
                <a16:creationId xmlns:a16="http://schemas.microsoft.com/office/drawing/2014/main" id="{8C6ADCC5-1445-42CD-AA72-0FA474CD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activity-item-4">
            <a:extLst xmlns:a="http://schemas.openxmlformats.org/drawingml/2006/main">
              <a:ext uri="{FF2B5EF4-FFF2-40B4-BE49-F238E27FC236}">
                <a16:creationId xmlns:a16="http://schemas.microsoft.com/office/drawing/2014/main" id="{07C6B714-586B-41E4-85C8-59885F55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¿La interpretación debe mantenerse en unidades originales para tomar decisiones?</a:t>
            </a:r>
          </a:p>
        </p:txBody>
      </p:sp>
      <p:sp>
        <p:nvSpPr>
          <p:cNvPr id="18" name="activity-closing">
            <a:extLst xmlns:a="http://schemas.openxmlformats.org/drawingml/2006/main">
              <a:ext uri="{FF2B5EF4-FFF2-40B4-BE49-F238E27FC236}">
                <a16:creationId xmlns:a16="http://schemas.microsoft.com/office/drawing/2014/main" id="{2186288D-EAF3-44E2-B58C-66CE97F8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Una transformación se justifica por un problema observable, no por costumbre.</a:t>
            </a:r>
          </a:p>
        </p:txBody>
      </p:sp>
    </p:spTree>
    <p:extLst>
      <p:ext uri="{BB962C8B-B14F-4D97-AF65-F5344CB8AC3E}">
        <p14:creationId xmlns:p14="http://schemas.microsoft.com/office/powerpoint/2010/main" val="21322741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36D49D2A-6B17-4DAC-B355-40AC6245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A35EF2-7D84-453E-889B-82F794CE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 orden recomendado separa problemas diferentes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063A375-A737-47A7-91B3-DDAE899F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50EDB2-0FA5-42FD-B1FB-B2711262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54F9739F-04E3-4AA6-84BF-6B026D3E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DBAA5920-A174-4866-8CC5-6086C6E9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La secuencia evita usar un scaler para intentar resolver asimetría o outliers.</a:t>
            </a:r>
          </a:p>
        </p:txBody>
      </p:sp>
      <p:sp>
        <p:nvSpPr>
          <p:cNvPr id="7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AA0F9485-3823-47E9-A777-57FFDBFE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1D5DB"/>
            </a:solidFill>
            <a:prstDash val="solid"/>
          </a:ln>
        </p:spPr>
      </p:sp>
      <p:sp>
        <p:nvSpPr>
          <p:cNvPr id="8" name="step-node-1">
            <a:extLst xmlns:a="http://schemas.openxmlformats.org/drawingml/2006/main">
              <a:ext uri="{FF2B5EF4-FFF2-40B4-BE49-F238E27FC236}">
                <a16:creationId xmlns:a16="http://schemas.microsoft.com/office/drawing/2014/main" id="{2AEE5DA2-E87A-49A4-952D-A6647B7E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A6334460-2028-4AEE-9B1C-3DACE324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73A62139-7A61-41D5-ABE4-9F756C71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67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Diagnosticar</a:t>
            </a:r>
          </a:p>
        </p:txBody>
      </p:sp>
      <p:sp>
        <p:nvSpPr>
          <p:cNvPr id="11" name="step-text-1">
            <a:extLst xmlns:a="http://schemas.openxmlformats.org/drawingml/2006/main">
              <a:ext uri="{FF2B5EF4-FFF2-40B4-BE49-F238E27FC236}">
                <a16:creationId xmlns:a16="http://schemas.microsoft.com/office/drawing/2014/main" id="{D87CFDBE-2840-4388-AD54-9B301A0A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641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Revisar semántica, distribución, ceros, extremos, faltantes y restricciones.</a:t>
            </a:r>
          </a:p>
        </p:txBody>
      </p:sp>
      <p:sp>
        <p:nvSpPr>
          <p:cNvPr id="12" name="step-node-2">
            <a:extLst xmlns:a="http://schemas.openxmlformats.org/drawingml/2006/main">
              <a:ext uri="{FF2B5EF4-FFF2-40B4-BE49-F238E27FC236}">
                <a16:creationId xmlns:a16="http://schemas.microsoft.com/office/drawing/2014/main" id="{D57772CE-5C06-4AC7-99FD-090417E5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3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A14362-C9EF-4862-B035-0DF2AA06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AEA2A6C3-AFF8-49B8-84EA-CFA7C97A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433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Transformar forma</a:t>
            </a:r>
          </a:p>
        </p:txBody>
      </p:sp>
      <p:sp>
        <p:nvSpPr>
          <p:cNvPr id="15" name="step-text-2">
            <a:extLst xmlns:a="http://schemas.openxmlformats.org/drawingml/2006/main">
              <a:ext uri="{FF2B5EF4-FFF2-40B4-BE49-F238E27FC236}">
                <a16:creationId xmlns:a16="http://schemas.microsoft.com/office/drawing/2014/main" id="{165D452F-F651-44CB-9137-7F48F16D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43300"/>
            <a:ext cx="641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Aplicar log, potencia o cuantiles solo cuando la distribución lo justifique.</a:t>
            </a:r>
          </a:p>
        </p:txBody>
      </p:sp>
      <p:sp>
        <p:nvSpPr>
          <p:cNvPr id="16" name="step-node-3">
            <a:extLst xmlns:a="http://schemas.openxmlformats.org/drawingml/2006/main">
              <a:ext uri="{FF2B5EF4-FFF2-40B4-BE49-F238E27FC236}">
                <a16:creationId xmlns:a16="http://schemas.microsoft.com/office/drawing/2014/main" id="{DA652FA4-4FBC-4435-93FC-E06FE309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7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698B164E-EDA5-4E15-8923-3AFBDAA8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2FE048C2-DC43-4E32-A0BB-57E210C0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9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Escalar</a:t>
            </a:r>
          </a:p>
        </p:txBody>
      </p:sp>
      <p:sp>
        <p:nvSpPr>
          <p:cNvPr id="19" name="step-text-3">
            <a:extLst xmlns:a="http://schemas.openxmlformats.org/drawingml/2006/main">
              <a:ext uri="{FF2B5EF4-FFF2-40B4-BE49-F238E27FC236}">
                <a16:creationId xmlns:a16="http://schemas.microsoft.com/office/drawing/2014/main" id="{4BF37E30-7F8D-4B2D-9303-3A321597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641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Elegir estadísticas compatibles con el modelo, los outliers y la matriz.</a:t>
            </a:r>
          </a:p>
        </p:txBody>
      </p:sp>
      <p:sp>
        <p:nvSpPr>
          <p:cNvPr id="20" name="step-node-4">
            <a:extLst xmlns:a="http://schemas.openxmlformats.org/drawingml/2006/main">
              <a:ext uri="{FF2B5EF4-FFF2-40B4-BE49-F238E27FC236}">
                <a16:creationId xmlns:a16="http://schemas.microsoft.com/office/drawing/2014/main" id="{7BB97AFF-5190-4914-B4B7-0195379A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1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909590CF-36B8-40FA-A38F-DA071951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1A82E628-E25F-4259-90B4-185547E5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959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23" name="step-text-4">
            <a:extLst xmlns:a="http://schemas.openxmlformats.org/drawingml/2006/main">
              <a:ext uri="{FF2B5EF4-FFF2-40B4-BE49-F238E27FC236}">
                <a16:creationId xmlns:a16="http://schemas.microsoft.com/office/drawing/2014/main" id="{18AE011C-D462-443F-AD2F-E0B17E4D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95900"/>
            <a:ext cx="641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Comparar alternativas dentro de cross‑validation y medir en unidades de negocio.</a:t>
            </a:r>
          </a:p>
        </p:txBody>
      </p:sp>
    </p:spTree>
    <p:extLst>
      <p:ext uri="{BB962C8B-B14F-4D97-AF65-F5344CB8AC3E}">
        <p14:creationId xmlns:p14="http://schemas.microsoft.com/office/powerpoint/2010/main" val="19470439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26A52C81-755A-4C15-9024-79DA71E4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384116-D217-491C-A497-548D8D60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fuga de información empieza antes del modelo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C95A897-7B1E-46E5-9D88-6C070419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09442B-731F-4FA2-8A41-C6617A9A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ACC7E244-4DFB-40AB-9A90-F403B9ED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hero-statement">
            <a:extLst xmlns:a="http://schemas.openxmlformats.org/drawingml/2006/main">
              <a:ext uri="{FF2B5EF4-FFF2-40B4-BE49-F238E27FC236}">
                <a16:creationId xmlns:a16="http://schemas.microsoft.com/office/drawing/2014/main" id="{A3990CCC-C352-4F33-A202-E20A0905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7429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Nunca se aprende una transformación con datos que simulan el futuro.</a:t>
            </a:r>
          </a:p>
        </p:txBody>
      </p:sp>
      <p:sp>
        <p:nvSpPr>
          <p:cNvPr id="7" name="hero-panel">
            <a:extLst xmlns:a="http://schemas.openxmlformats.org/drawingml/2006/main">
              <a:ext uri="{FF2B5EF4-FFF2-40B4-BE49-F238E27FC236}">
                <a16:creationId xmlns:a16="http://schemas.microsoft.com/office/drawing/2014/main" id="{11819D68-4F1D-4E2C-B17F-9F4466FB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32194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ro-aside-title">
            <a:extLst xmlns:a="http://schemas.openxmlformats.org/drawingml/2006/main">
              <a:ext uri="{FF2B5EF4-FFF2-40B4-BE49-F238E27FC236}">
                <a16:creationId xmlns:a16="http://schemas.microsoft.com/office/drawing/2014/main" id="{90EFBD19-DB35-4A49-8BA4-7ED1CD59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Regla operativa</a:t>
            </a:r>
          </a:p>
        </p:txBody>
      </p:sp>
      <p:sp>
        <p:nvSpPr>
          <p:cNvPr id="9" name="hero-aside">
            <a:extLst xmlns:a="http://schemas.openxmlformats.org/drawingml/2006/main">
              <a:ext uri="{FF2B5EF4-FFF2-40B4-BE49-F238E27FC236}">
                <a16:creationId xmlns:a16="http://schemas.microsoft.com/office/drawing/2014/main" id="{077E3606-6C27-486A-B359-8BB38084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25717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95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Dividir primero. Ajustar media, desvío, cuantiles, λ o categorías solo con entrenamiento. Después aplicar transform al conjunto de validación o prueba.</a:t>
            </a:r>
          </a:p>
        </p:txBody>
      </p:sp>
      <p:sp>
        <p:nvSpPr>
          <p:cNvPr id="10" name="hero-bottom">
            <a:extLst xmlns:a="http://schemas.openxmlformats.org/drawingml/2006/main">
              <a:ext uri="{FF2B5EF4-FFF2-40B4-BE49-F238E27FC236}">
                <a16:creationId xmlns:a16="http://schemas.microsoft.com/office/drawing/2014/main" id="{E50AE24E-BEF9-4C3C-8288-06B13AD7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Pipeline y cross‑validation mantienen cada estimación dentro del fold correcto.</a:t>
            </a:r>
          </a:p>
        </p:txBody>
      </p:sp>
    </p:spTree>
    <p:extLst>
      <p:ext uri="{BB962C8B-B14F-4D97-AF65-F5344CB8AC3E}">
        <p14:creationId xmlns:p14="http://schemas.microsoft.com/office/powerpoint/2010/main" val="11938103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5B46525C-E20A-46CA-9BB5-F41DC634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1C63BC-9F63-492E-B8B6-AB67207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 objetivo del análisis orienta la familia de transformación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85DEB60-D134-413A-B6F7-EB3BE49A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17F225-955D-4041-82BF-C65D96C1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17A4151E-1003-41BC-9A1F-A96A2DFB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033C75A7-C342-400C-A1EC-C5B3F040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No existe un transformador universalmente mejor.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2476500"/>
          <a:ext xmlns:a="http://schemas.openxmlformats.org/drawingml/2006/main" cx="11125200" cy="3133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1581"/>
                <a:gridCol w="2512142"/>
                <a:gridCol w="2691581"/>
                <a:gridCol w="3229897"/>
              </a:tblGrid>
              <a:tr h="5222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Objetivo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Primera opción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Alternativa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Riesgo a vigilar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Comparar distancias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StandardScaler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RobustScaler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Outliers dominantes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Acotar entradas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MinMaxScaler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MaxAbsScaler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Nuevos extremos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Reducir cola derecha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log1p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Yeo‑Johnson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Ceros y negativos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Aproximar simetría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PowerTransformer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QuantileTransformer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Distorsión de relación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Texto o perfiles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Normalizer L2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Perder magnitud útil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093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1BF8A235-CDE7-47F4-8B03-B06CC615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MÓDULO 1 · FUNDAMENTOS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B5B31A-0A70-46A6-8FC6-A78BEC9B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Actividad integradora: elegir y justificar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3C0DBC-907B-482A-9A17-5105FE9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814565-4B12-4FA5-971F-D1C97ABF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454D9C4F-B6EA-49C6-AF75-CA259019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Transformación de variables para Machine Learning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1401D755-768F-4E5D-B937-CEABF113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Proponer transformación, orden y validación para cada situación.</a:t>
            </a:r>
          </a:p>
        </p:txBody>
      </p:sp>
      <p:sp>
        <p:nvSpPr>
          <p:cNvPr id="7" name="activity-number-1">
            <a:extLst xmlns:a="http://schemas.openxmlformats.org/drawingml/2006/main">
              <a:ext uri="{FF2B5EF4-FFF2-40B4-BE49-F238E27FC236}">
                <a16:creationId xmlns:a16="http://schemas.microsoft.com/office/drawing/2014/main" id="{456E2A12-37C7-442B-B512-5C64F6AB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activity-item-1">
            <a:extLst xmlns:a="http://schemas.openxmlformats.org/drawingml/2006/main">
              <a:ext uri="{FF2B5EF4-FFF2-40B4-BE49-F238E27FC236}">
                <a16:creationId xmlns:a16="http://schemas.microsoft.com/office/drawing/2014/main" id="{8A4449C2-0F56-4DAF-A43D-C8A4EF5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KNN de clientes con edad, antigüedad, saldo y cantidad de reclamos.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65D8BA3E-A156-49CF-A92B-CD95995E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623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activity-number-2">
            <a:extLst xmlns:a="http://schemas.openxmlformats.org/drawingml/2006/main">
              <a:ext uri="{FF2B5EF4-FFF2-40B4-BE49-F238E27FC236}">
                <a16:creationId xmlns:a16="http://schemas.microsoft.com/office/drawing/2014/main" id="{C6B8E666-0BC2-4D37-8679-799B80BC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activity-item-2">
            <a:extLst xmlns:a="http://schemas.openxmlformats.org/drawingml/2006/main">
              <a:ext uri="{FF2B5EF4-FFF2-40B4-BE49-F238E27FC236}">
                <a16:creationId xmlns:a16="http://schemas.microsoft.com/office/drawing/2014/main" id="{01FF5F41-430B-48FB-B21C-124B820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Random Forest de churn con montos sesgados y categorías de alta cardinalidad.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FEE8BDC2-CE12-40F9-92F0-5D58930E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activity-number-3">
            <a:extLst xmlns:a="http://schemas.openxmlformats.org/drawingml/2006/main">
              <a:ext uri="{FF2B5EF4-FFF2-40B4-BE49-F238E27FC236}">
                <a16:creationId xmlns:a16="http://schemas.microsoft.com/office/drawing/2014/main" id="{E319BDB4-0AE4-4A04-BCBD-7D776AC0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activity-item-3">
            <a:extLst xmlns:a="http://schemas.openxmlformats.org/drawingml/2006/main">
              <a:ext uri="{FF2B5EF4-FFF2-40B4-BE49-F238E27FC236}">
                <a16:creationId xmlns:a16="http://schemas.microsoft.com/office/drawing/2014/main" id="{6F88BA7F-DA61-4B00-AB59-EC9832B0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Regresión Ridge de ventas donde el costo del error es relativo, no absoluto.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004087C5-7338-4107-94AE-982BB2D0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482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activity-number-4">
            <a:extLst xmlns:a="http://schemas.openxmlformats.org/drawingml/2006/main">
              <a:ext uri="{FF2B5EF4-FFF2-40B4-BE49-F238E27FC236}">
                <a16:creationId xmlns:a16="http://schemas.microsoft.com/office/drawing/2014/main" id="{F3B8FD8F-ACA6-4F15-BD5C-3B3589B4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activity-item-4">
            <a:extLst xmlns:a="http://schemas.openxmlformats.org/drawingml/2006/main">
              <a:ext uri="{FF2B5EF4-FFF2-40B4-BE49-F238E27FC236}">
                <a16:creationId xmlns:a16="http://schemas.microsoft.com/office/drawing/2014/main" id="{22FB6B23-9F9A-4631-B484-BBF786B6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Clustering de documentos representados por frecuencias de palabras.</a:t>
            </a:r>
          </a:p>
        </p:txBody>
      </p:sp>
      <p:sp>
        <p:nvSpPr>
          <p:cNvPr id="18" name="activity-closing">
            <a:extLst xmlns:a="http://schemas.openxmlformats.org/drawingml/2006/main">
              <a:ext uri="{FF2B5EF4-FFF2-40B4-BE49-F238E27FC236}">
                <a16:creationId xmlns:a16="http://schemas.microsoft.com/office/drawing/2014/main" id="{03AD614A-02DF-4E1B-B3A1-86F38AE1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3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La respuesta completa incluye: qué se aprende en train, qué se conserva y qué puede distorsionarse.</a:t>
            </a:r>
          </a:p>
        </p:txBody>
      </p:sp>
    </p:spTree>
    <p:extLst>
      <p:ext uri="{BB962C8B-B14F-4D97-AF65-F5344CB8AC3E}">
        <p14:creationId xmlns:p14="http://schemas.microsoft.com/office/powerpoint/2010/main" val="14128540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inal-accent">
            <a:extLst xmlns:a="http://schemas.openxmlformats.org/drawingml/2006/main">
              <a:ext uri="{FF2B5EF4-FFF2-40B4-BE49-F238E27FC236}">
                <a16:creationId xmlns:a16="http://schemas.microsoft.com/office/drawing/2014/main" id="{62DB9195-0963-4C62-94CD-4EEBF2C1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inal-kicker">
            <a:extLst xmlns:a="http://schemas.openxmlformats.org/drawingml/2006/main">
              <a:ext uri="{FF2B5EF4-FFF2-40B4-BE49-F238E27FC236}">
                <a16:creationId xmlns:a16="http://schemas.microsoft.com/office/drawing/2014/main" id="{E56DCAA5-8DCB-4936-B3AE-50A159A7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COLECCIÓN · TRANSFORMACIÓN DE VARIABLES</a:t>
            </a:r>
          </a:p>
        </p:txBody>
      </p:sp>
      <p:sp>
        <p:nvSpPr>
          <p:cNvPr id="3" name="final-author">
            <a:extLst xmlns:a="http://schemas.openxmlformats.org/drawingml/2006/main">
              <a:ext uri="{FF2B5EF4-FFF2-40B4-BE49-F238E27FC236}">
                <a16:creationId xmlns:a16="http://schemas.microsoft.com/office/drawing/2014/main" id="{C7926FC9-4FDC-4395-B522-05F04A02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Material elaborado por el profesor Sergio Gevatschnaider</a:t>
            </a:r>
          </a:p>
        </p:txBody>
      </p:sp>
      <p:sp>
        <p:nvSpPr>
          <p:cNvPr id="4" name="final-subtitle">
            <a:extLst xmlns:a="http://schemas.openxmlformats.org/drawingml/2006/main">
              <a:ext uri="{FF2B5EF4-FFF2-40B4-BE49-F238E27FC236}">
                <a16:creationId xmlns:a16="http://schemas.microsoft.com/office/drawing/2014/main" id="{2C1562FB-D399-47AE-8E30-F1FD7542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Módulo 1 · Fundamentos y criterio de decisión</a:t>
            </a:r>
          </a:p>
        </p:txBody>
      </p:sp>
      <p:sp>
        <p:nvSpPr>
          <p:cNvPr id="5" name="final-number">
            <a:extLst xmlns:a="http://schemas.openxmlformats.org/drawingml/2006/main">
              <a:ext uri="{FF2B5EF4-FFF2-40B4-BE49-F238E27FC236}">
                <a16:creationId xmlns:a16="http://schemas.microsoft.com/office/drawing/2014/main" id="{40ABBA1E-3D92-49C2-B731-A908354B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78962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2026-08-31T18:22:31.3580000Z</dcterms:created>
  <dcterms:modified xsi:type="dcterms:W3CDTF">2026-08-31T18:22:31.3580000Z</dcterms:modified>
</coreProperties>
</file>